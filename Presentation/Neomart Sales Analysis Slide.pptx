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64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6166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9692640" y="-1645920"/>
            <a:ext cx="4754880" cy="4754880"/>
          </a:xfrm>
          <a:prstGeom prst="ellipse">
            <a:avLst/>
          </a:prstGeom>
          <a:solidFill>
            <a:srgbClr val="1E2761">
              <a:alpha val="70000"/>
            </a:srgbClr>
          </a:solidFill>
          <a:ln/>
        </p:spPr>
      </p:sp>
      <p:sp>
        <p:nvSpPr>
          <p:cNvPr id="3" name="Shape 1"/>
          <p:cNvSpPr/>
          <p:nvPr/>
        </p:nvSpPr>
        <p:spPr>
          <a:xfrm>
            <a:off x="-1463040" y="4846320"/>
            <a:ext cx="3657600" cy="3657600"/>
          </a:xfrm>
          <a:prstGeom prst="ellipse">
            <a:avLst/>
          </a:prstGeom>
          <a:solidFill>
            <a:srgbClr val="1E2761">
              <a:alpha val="60000"/>
            </a:srgbClr>
          </a:solidFill>
          <a:ln/>
        </p:spPr>
      </p:sp>
      <p:sp>
        <p:nvSpPr>
          <p:cNvPr id="4" name="Shape 2"/>
          <p:cNvSpPr/>
          <p:nvPr/>
        </p:nvSpPr>
        <p:spPr>
          <a:xfrm>
            <a:off x="10607040" y="5120640"/>
            <a:ext cx="2011680" cy="2011680"/>
          </a:xfrm>
          <a:prstGeom prst="ellipse">
            <a:avLst/>
          </a:prstGeom>
          <a:solidFill>
            <a:srgbClr val="E8B84B">
              <a:alpha val="45000"/>
            </a:srgbClr>
          </a:solidFill>
          <a:ln/>
        </p:spPr>
      </p:sp>
      <p:sp>
        <p:nvSpPr>
          <p:cNvPr id="5" name="Text 3"/>
          <p:cNvSpPr/>
          <p:nvPr/>
        </p:nvSpPr>
        <p:spPr>
          <a:xfrm>
            <a:off x="822960" y="1965960"/>
            <a:ext cx="7315200" cy="365760"/>
          </a:xfrm>
          <a:prstGeom prst="rect">
            <a:avLst/>
          </a:prstGeom>
          <a:noFill/>
          <a:ln/>
        </p:spPr>
        <p:txBody>
          <a:bodyPr wrap="square" rtlCol="0" anchor="ctr"/>
          <a:lstStyle/>
          <a:p>
            <a:pPr marL="0" indent="0">
              <a:buNone/>
            </a:pPr>
            <a:r>
              <a:rPr lang="en-US" sz="1400" b="1" kern="0" spc="300" dirty="0">
                <a:solidFill>
                  <a:srgbClr val="CADCFC"/>
                </a:solidFill>
                <a:latin typeface="Calibri" pitchFamily="34" charset="0"/>
                <a:ea typeface="Calibri" pitchFamily="34" charset="-122"/>
                <a:cs typeface="Calibri" pitchFamily="34" charset="-120"/>
              </a:rPr>
              <a:t>BUSINESS STORY  ·  RETAIL ANALYTICS</a:t>
            </a:r>
            <a:endParaRPr lang="en-US" sz="1400" dirty="0"/>
          </a:p>
        </p:txBody>
      </p:sp>
      <p:sp>
        <p:nvSpPr>
          <p:cNvPr id="6" name="Text 4"/>
          <p:cNvSpPr/>
          <p:nvPr/>
        </p:nvSpPr>
        <p:spPr>
          <a:xfrm>
            <a:off x="777240" y="2331720"/>
            <a:ext cx="9601200" cy="1920240"/>
          </a:xfrm>
          <a:prstGeom prst="rect">
            <a:avLst/>
          </a:prstGeom>
          <a:noFill/>
          <a:ln/>
        </p:spPr>
        <p:txBody>
          <a:bodyPr wrap="square" rtlCol="0" anchor="ctr"/>
          <a:lstStyle/>
          <a:p>
            <a:pPr marL="0" indent="0">
              <a:lnSpc>
                <a:spcPts val="4800"/>
              </a:lnSpc>
              <a:buNone/>
            </a:pPr>
            <a:r>
              <a:rPr lang="en-US" sz="4400" b="1" dirty="0">
                <a:solidFill>
                  <a:srgbClr val="FFFFFF"/>
                </a:solidFill>
                <a:latin typeface="Cambria" pitchFamily="34" charset="0"/>
                <a:ea typeface="Cambria" pitchFamily="34" charset="-122"/>
                <a:cs typeface="Cambria" pitchFamily="34" charset="-120"/>
              </a:rPr>
              <a:t>NeoMart Retail</a:t>
            </a:r>
            <a:endParaRPr lang="en-US" sz="4400" dirty="0"/>
          </a:p>
          <a:p>
            <a:pPr marL="0" indent="0">
              <a:lnSpc>
                <a:spcPts val="4800"/>
              </a:lnSpc>
              <a:buNone/>
            </a:pPr>
            <a:r>
              <a:rPr lang="en-US" sz="4400" b="1" dirty="0">
                <a:solidFill>
                  <a:srgbClr val="FFFFFF"/>
                </a:solidFill>
                <a:latin typeface="Cambria" pitchFamily="34" charset="0"/>
                <a:ea typeface="Cambria" pitchFamily="34" charset="-122"/>
                <a:cs typeface="Cambria" pitchFamily="34" charset="-120"/>
              </a:rPr>
              <a:t>Performance Analysis</a:t>
            </a:r>
            <a:endParaRPr lang="en-US" sz="4400" dirty="0"/>
          </a:p>
        </p:txBody>
      </p:sp>
      <p:sp>
        <p:nvSpPr>
          <p:cNvPr id="7" name="Text 5"/>
          <p:cNvSpPr/>
          <p:nvPr/>
        </p:nvSpPr>
        <p:spPr>
          <a:xfrm>
            <a:off x="822960" y="4160520"/>
            <a:ext cx="7863840" cy="822960"/>
          </a:xfrm>
          <a:prstGeom prst="rect">
            <a:avLst/>
          </a:prstGeom>
          <a:noFill/>
          <a:ln/>
        </p:spPr>
        <p:txBody>
          <a:bodyPr wrap="square" rtlCol="0" anchor="ctr"/>
          <a:lstStyle/>
          <a:p>
            <a:pPr marL="0" indent="0">
              <a:lnSpc>
                <a:spcPts val="2200"/>
              </a:lnSpc>
              <a:buNone/>
            </a:pPr>
            <a:r>
              <a:rPr lang="en-US" sz="1600" dirty="0">
                <a:solidFill>
                  <a:srgbClr val="CADCFC"/>
                </a:solidFill>
                <a:latin typeface="Calibri" pitchFamily="34" charset="0"/>
                <a:ea typeface="Calibri" pitchFamily="34" charset="-122"/>
                <a:cs typeface="Calibri" pitchFamily="34" charset="-120"/>
              </a:rPr>
              <a:t>Evaluating sales trends, profitability, customer satisfaction, and delivery performance to guide NeoMart's next strategic moves.</a:t>
            </a:r>
            <a:endParaRPr lang="en-US" sz="1600" dirty="0"/>
          </a:p>
        </p:txBody>
      </p:sp>
      <p:sp>
        <p:nvSpPr>
          <p:cNvPr id="8" name="Shape 6"/>
          <p:cNvSpPr/>
          <p:nvPr/>
        </p:nvSpPr>
        <p:spPr>
          <a:xfrm>
            <a:off x="822960" y="5166360"/>
            <a:ext cx="1005840" cy="0"/>
          </a:xfrm>
          <a:prstGeom prst="line">
            <a:avLst/>
          </a:prstGeom>
          <a:noFill/>
          <a:ln w="38100">
            <a:solidFill>
              <a:srgbClr val="E8B84B"/>
            </a:solidFill>
            <a:prstDash val="solid"/>
          </a:ln>
        </p:spPr>
      </p:sp>
      <p:sp>
        <p:nvSpPr>
          <p:cNvPr id="9" name="Text 7"/>
          <p:cNvSpPr/>
          <p:nvPr/>
        </p:nvSpPr>
        <p:spPr>
          <a:xfrm>
            <a:off x="822960" y="5349240"/>
            <a:ext cx="5486400" cy="320040"/>
          </a:xfrm>
          <a:prstGeom prst="rect">
            <a:avLst/>
          </a:prstGeom>
          <a:noFill/>
          <a:ln/>
        </p:spPr>
        <p:txBody>
          <a:bodyPr wrap="square" rtlCol="0" anchor="ctr"/>
          <a:lstStyle/>
          <a:p>
            <a:pPr marL="0" indent="0">
              <a:buNone/>
            </a:pPr>
            <a:r>
              <a:rPr lang="en-US" sz="1300" i="1" dirty="0">
                <a:solidFill>
                  <a:srgbClr val="9FB0E0"/>
                </a:solidFill>
                <a:latin typeface="Calibri" pitchFamily="34" charset="0"/>
                <a:ea typeface="Calibri" pitchFamily="34" charset="-122"/>
                <a:cs typeface="Calibri" pitchFamily="34" charset="-120"/>
              </a:rPr>
              <a:t>Prepared for Management Review</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C"/>
        </a:solidFill>
        <a:effectLst/>
      </p:bgPr>
    </p:bg>
    <p:spTree>
      <p:nvGrpSpPr>
        <p:cNvPr id="1" name=""/>
        <p:cNvGrpSpPr/>
        <p:nvPr/>
      </p:nvGrpSpPr>
      <p:grpSpPr>
        <a:xfrm>
          <a:off x="0" y="0"/>
          <a:ext cx="0" cy="0"/>
          <a:chOff x="0" y="0"/>
          <a:chExt cx="0" cy="0"/>
        </a:xfrm>
      </p:grpSpPr>
      <p:sp>
        <p:nvSpPr>
          <p:cNvPr id="2" name="Text 0"/>
          <p:cNvSpPr/>
          <p:nvPr/>
        </p:nvSpPr>
        <p:spPr>
          <a:xfrm>
            <a:off x="548640" y="411480"/>
            <a:ext cx="36576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EXECUTIVE SUMMARY</a:t>
            </a:r>
            <a:endParaRPr lang="en-US" sz="1200" dirty="0"/>
          </a:p>
        </p:txBody>
      </p:sp>
      <p:sp>
        <p:nvSpPr>
          <p:cNvPr id="3" name="Text 1"/>
          <p:cNvSpPr/>
          <p:nvPr/>
        </p:nvSpPr>
        <p:spPr>
          <a:xfrm>
            <a:off x="548640" y="713232"/>
            <a:ext cx="10515600" cy="548640"/>
          </a:xfrm>
          <a:prstGeom prst="rect">
            <a:avLst/>
          </a:prstGeom>
          <a:noFill/>
          <a:ln/>
        </p:spPr>
        <p:txBody>
          <a:bodyPr wrap="square" rtlCol="0" anchor="ctr"/>
          <a:lstStyle/>
          <a:p>
            <a:pPr marL="0" indent="0">
              <a:buNone/>
            </a:pPr>
            <a:r>
              <a:rPr lang="en-US" sz="2800" b="1" dirty="0">
                <a:solidFill>
                  <a:srgbClr val="141B4D"/>
                </a:solidFill>
                <a:latin typeface="Cambria" pitchFamily="34" charset="0"/>
                <a:ea typeface="Cambria" pitchFamily="34" charset="-122"/>
                <a:cs typeface="Cambria" pitchFamily="34" charset="-120"/>
              </a:rPr>
              <a:t>A strong year with clear operational gaps</a:t>
            </a:r>
            <a:endParaRPr lang="en-US" sz="2800" dirty="0"/>
          </a:p>
        </p:txBody>
      </p:sp>
      <p:sp>
        <p:nvSpPr>
          <p:cNvPr id="4" name="Text 2"/>
          <p:cNvSpPr/>
          <p:nvPr/>
        </p:nvSpPr>
        <p:spPr>
          <a:xfrm>
            <a:off x="548640" y="1371600"/>
            <a:ext cx="6126480" cy="2926080"/>
          </a:xfrm>
          <a:prstGeom prst="rect">
            <a:avLst/>
          </a:prstGeom>
          <a:noFill/>
          <a:ln/>
        </p:spPr>
        <p:txBody>
          <a:bodyPr wrap="square" rtlCol="0" anchor="ctr"/>
          <a:lstStyle/>
          <a:p>
            <a:pPr marL="0" indent="0">
              <a:lnSpc>
                <a:spcPts val="2300"/>
              </a:lnSpc>
              <a:buNone/>
            </a:pPr>
            <a:r>
              <a:rPr lang="en-US" sz="1450" dirty="0">
                <a:solidFill>
                  <a:srgbClr val="333B57"/>
                </a:solidFill>
                <a:latin typeface="Calibri" pitchFamily="34" charset="0"/>
                <a:ea typeface="Calibri" pitchFamily="34" charset="-122"/>
                <a:cs typeface="Calibri" pitchFamily="34" charset="-120"/>
              </a:rPr>
              <a:t>NeoMart evaluated a full year of transactional retail data covering sales, profitability, customer satisfaction, and delivery operations. The business achieved strong overall sales — led by the South region and a powerful Q4 finish — with Electronics as the standout profit driver. However, heavier discounting eroded margins, and the South region's operational strain (slow deliveries, inconsistent service) is undercutting the value of its own sales lead. Addressing discount discipline, South region logistics, and East region growth are the clearest paths to improved performance.</a:t>
            </a:r>
            <a:endParaRPr lang="en-US" sz="1450" dirty="0"/>
          </a:p>
        </p:txBody>
      </p:sp>
      <p:sp>
        <p:nvSpPr>
          <p:cNvPr id="5" name="Shape 3"/>
          <p:cNvSpPr/>
          <p:nvPr/>
        </p:nvSpPr>
        <p:spPr>
          <a:xfrm>
            <a:off x="7040880" y="1371600"/>
            <a:ext cx="2171700" cy="1234440"/>
          </a:xfrm>
          <a:prstGeom prst="roundRect">
            <a:avLst>
              <a:gd name="adj" fmla="val 5926"/>
            </a:avLst>
          </a:prstGeom>
          <a:solidFill>
            <a:srgbClr val="FFFFFF"/>
          </a:solidFill>
          <a:ln w="12700">
            <a:solidFill>
              <a:srgbClr val="E3E7F2"/>
            </a:solidFill>
            <a:prstDash val="solid"/>
          </a:ln>
          <a:effectLst>
            <a:outerShdw blurRad="101600" dist="38100" dir="5400000" algn="bl" rotWithShape="0">
              <a:srgbClr val="1E2761">
                <a:alpha val="12000"/>
              </a:srgbClr>
            </a:outerShdw>
          </a:effectLst>
        </p:spPr>
      </p:sp>
      <p:sp>
        <p:nvSpPr>
          <p:cNvPr id="6" name="Text 4"/>
          <p:cNvSpPr/>
          <p:nvPr/>
        </p:nvSpPr>
        <p:spPr>
          <a:xfrm>
            <a:off x="7205472" y="1508760"/>
            <a:ext cx="1842516" cy="548640"/>
          </a:xfrm>
          <a:prstGeom prst="rect">
            <a:avLst/>
          </a:prstGeom>
          <a:noFill/>
          <a:ln/>
        </p:spPr>
        <p:txBody>
          <a:bodyPr wrap="square"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201K</a:t>
            </a:r>
            <a:endParaRPr lang="en-US" sz="2400" dirty="0"/>
          </a:p>
        </p:txBody>
      </p:sp>
      <p:sp>
        <p:nvSpPr>
          <p:cNvPr id="7" name="Text 5"/>
          <p:cNvSpPr/>
          <p:nvPr/>
        </p:nvSpPr>
        <p:spPr>
          <a:xfrm>
            <a:off x="7205472" y="2084832"/>
            <a:ext cx="1842516" cy="457200"/>
          </a:xfrm>
          <a:prstGeom prst="rect">
            <a:avLst/>
          </a:prstGeom>
          <a:noFill/>
          <a:ln/>
        </p:spPr>
        <p:txBody>
          <a:bodyPr wrap="square" rtlCol="0" anchor="ctr"/>
          <a:lstStyle/>
          <a:p>
            <a:pPr marL="0" indent="0">
              <a:lnSpc>
                <a:spcPts val="1300"/>
              </a:lnSpc>
              <a:buNone/>
            </a:pPr>
            <a:r>
              <a:rPr lang="en-US" sz="1100" dirty="0">
                <a:solidFill>
                  <a:srgbClr val="6B7280"/>
                </a:solidFill>
                <a:latin typeface="Calibri" pitchFamily="34" charset="0"/>
                <a:ea typeface="Calibri" pitchFamily="34" charset="-122"/>
                <a:cs typeface="Calibri" pitchFamily="34" charset="-120"/>
              </a:rPr>
              <a:t>Peak monthly sales, December</a:t>
            </a:r>
            <a:endParaRPr lang="en-US" sz="1100" dirty="0"/>
          </a:p>
        </p:txBody>
      </p:sp>
      <p:sp>
        <p:nvSpPr>
          <p:cNvPr id="8" name="Shape 6"/>
          <p:cNvSpPr/>
          <p:nvPr/>
        </p:nvSpPr>
        <p:spPr>
          <a:xfrm>
            <a:off x="9441180" y="1371600"/>
            <a:ext cx="2171700" cy="1234440"/>
          </a:xfrm>
          <a:prstGeom prst="roundRect">
            <a:avLst>
              <a:gd name="adj" fmla="val 5926"/>
            </a:avLst>
          </a:prstGeom>
          <a:solidFill>
            <a:srgbClr val="FFFFFF"/>
          </a:solidFill>
          <a:ln w="12700">
            <a:solidFill>
              <a:srgbClr val="E3E7F2"/>
            </a:solidFill>
            <a:prstDash val="solid"/>
          </a:ln>
          <a:effectLst>
            <a:outerShdw blurRad="101600" dist="38100" dir="5400000" algn="bl" rotWithShape="0">
              <a:srgbClr val="1E2761">
                <a:alpha val="12000"/>
              </a:srgbClr>
            </a:outerShdw>
          </a:effectLst>
        </p:spPr>
      </p:sp>
      <p:sp>
        <p:nvSpPr>
          <p:cNvPr id="9" name="Text 7"/>
          <p:cNvSpPr/>
          <p:nvPr/>
        </p:nvSpPr>
        <p:spPr>
          <a:xfrm>
            <a:off x="9605772" y="1508760"/>
            <a:ext cx="1842516" cy="548640"/>
          </a:xfrm>
          <a:prstGeom prst="rect">
            <a:avLst/>
          </a:prstGeom>
          <a:noFill/>
          <a:ln/>
        </p:spPr>
        <p:txBody>
          <a:bodyPr wrap="square" rtlCol="0" anchor="ctr"/>
          <a:lstStyle/>
          <a:p>
            <a:pPr marL="0" indent="0">
              <a:buNone/>
            </a:pPr>
            <a:r>
              <a:rPr lang="en-US" sz="2400" b="1" dirty="0">
                <a:solidFill>
                  <a:srgbClr val="F2545B"/>
                </a:solidFill>
                <a:latin typeface="Cambria" pitchFamily="34" charset="0"/>
                <a:ea typeface="Cambria" pitchFamily="34" charset="-122"/>
                <a:cs typeface="Cambria" pitchFamily="34" charset="-120"/>
              </a:rPr>
              <a:t>-0.45</a:t>
            </a:r>
            <a:endParaRPr lang="en-US" sz="2400" dirty="0"/>
          </a:p>
        </p:txBody>
      </p:sp>
      <p:sp>
        <p:nvSpPr>
          <p:cNvPr id="10" name="Text 8"/>
          <p:cNvSpPr/>
          <p:nvPr/>
        </p:nvSpPr>
        <p:spPr>
          <a:xfrm>
            <a:off x="9605772" y="2084832"/>
            <a:ext cx="1842516" cy="457200"/>
          </a:xfrm>
          <a:prstGeom prst="rect">
            <a:avLst/>
          </a:prstGeom>
          <a:noFill/>
          <a:ln/>
        </p:spPr>
        <p:txBody>
          <a:bodyPr wrap="square" rtlCol="0" anchor="ctr"/>
          <a:lstStyle/>
          <a:p>
            <a:pPr marL="0" indent="0">
              <a:lnSpc>
                <a:spcPts val="1300"/>
              </a:lnSpc>
              <a:buNone/>
            </a:pPr>
            <a:r>
              <a:rPr lang="en-US" sz="1100" dirty="0">
                <a:solidFill>
                  <a:srgbClr val="6B7280"/>
                </a:solidFill>
                <a:latin typeface="Calibri" pitchFamily="34" charset="0"/>
                <a:ea typeface="Calibri" pitchFamily="34" charset="-122"/>
                <a:cs typeface="Calibri" pitchFamily="34" charset="-120"/>
              </a:rPr>
              <a:t>Discount vs. Profit correlation</a:t>
            </a:r>
            <a:endParaRPr lang="en-US" sz="1100" dirty="0"/>
          </a:p>
        </p:txBody>
      </p:sp>
      <p:sp>
        <p:nvSpPr>
          <p:cNvPr id="11" name="Shape 9"/>
          <p:cNvSpPr/>
          <p:nvPr/>
        </p:nvSpPr>
        <p:spPr>
          <a:xfrm>
            <a:off x="7040880" y="2834640"/>
            <a:ext cx="2171700" cy="1234440"/>
          </a:xfrm>
          <a:prstGeom prst="roundRect">
            <a:avLst>
              <a:gd name="adj" fmla="val 5926"/>
            </a:avLst>
          </a:prstGeom>
          <a:solidFill>
            <a:srgbClr val="FFFFFF"/>
          </a:solidFill>
          <a:ln w="12700">
            <a:solidFill>
              <a:srgbClr val="E3E7F2"/>
            </a:solidFill>
            <a:prstDash val="solid"/>
          </a:ln>
          <a:effectLst>
            <a:outerShdw blurRad="101600" dist="38100" dir="5400000" algn="bl" rotWithShape="0">
              <a:srgbClr val="1E2761">
                <a:alpha val="12000"/>
              </a:srgbClr>
            </a:outerShdw>
          </a:effectLst>
        </p:spPr>
      </p:sp>
      <p:sp>
        <p:nvSpPr>
          <p:cNvPr id="12" name="Text 10"/>
          <p:cNvSpPr/>
          <p:nvPr/>
        </p:nvSpPr>
        <p:spPr>
          <a:xfrm>
            <a:off x="7205472" y="2971800"/>
            <a:ext cx="1842516" cy="548640"/>
          </a:xfrm>
          <a:prstGeom prst="rect">
            <a:avLst/>
          </a:prstGeom>
          <a:noFill/>
          <a:ln/>
        </p:spPr>
        <p:txBody>
          <a:bodyPr wrap="square" rtlCol="0" anchor="ctr"/>
          <a:lstStyle/>
          <a:p>
            <a:pPr marL="0" indent="0">
              <a:buNone/>
            </a:pPr>
            <a:r>
              <a:rPr lang="en-US" sz="2400" b="1" dirty="0">
                <a:solidFill>
                  <a:srgbClr val="E8B84B"/>
                </a:solidFill>
                <a:latin typeface="Cambria" pitchFamily="34" charset="0"/>
                <a:ea typeface="Cambria" pitchFamily="34" charset="-122"/>
                <a:cs typeface="Cambria" pitchFamily="34" charset="-120"/>
              </a:rPr>
              <a:t>7.7 days</a:t>
            </a:r>
            <a:endParaRPr lang="en-US" sz="2400" dirty="0"/>
          </a:p>
        </p:txBody>
      </p:sp>
      <p:sp>
        <p:nvSpPr>
          <p:cNvPr id="13" name="Text 11"/>
          <p:cNvSpPr/>
          <p:nvPr/>
        </p:nvSpPr>
        <p:spPr>
          <a:xfrm>
            <a:off x="7205472" y="3547872"/>
            <a:ext cx="1842516" cy="457200"/>
          </a:xfrm>
          <a:prstGeom prst="rect">
            <a:avLst/>
          </a:prstGeom>
          <a:noFill/>
          <a:ln/>
        </p:spPr>
        <p:txBody>
          <a:bodyPr wrap="square" rtlCol="0" anchor="ctr"/>
          <a:lstStyle/>
          <a:p>
            <a:pPr marL="0" indent="0">
              <a:lnSpc>
                <a:spcPts val="1300"/>
              </a:lnSpc>
              <a:buNone/>
            </a:pPr>
            <a:r>
              <a:rPr lang="en-US" sz="1100" dirty="0">
                <a:solidFill>
                  <a:srgbClr val="6B7280"/>
                </a:solidFill>
                <a:latin typeface="Calibri" pitchFamily="34" charset="0"/>
                <a:ea typeface="Calibri" pitchFamily="34" charset="-122"/>
                <a:cs typeface="Calibri" pitchFamily="34" charset="-120"/>
              </a:rPr>
              <a:t>Median South delivery time</a:t>
            </a:r>
            <a:endParaRPr lang="en-US" sz="1100" dirty="0"/>
          </a:p>
        </p:txBody>
      </p:sp>
      <p:sp>
        <p:nvSpPr>
          <p:cNvPr id="14" name="Shape 12"/>
          <p:cNvSpPr/>
          <p:nvPr/>
        </p:nvSpPr>
        <p:spPr>
          <a:xfrm>
            <a:off x="9441180" y="2834640"/>
            <a:ext cx="2171700" cy="1234440"/>
          </a:xfrm>
          <a:prstGeom prst="roundRect">
            <a:avLst>
              <a:gd name="adj" fmla="val 5926"/>
            </a:avLst>
          </a:prstGeom>
          <a:solidFill>
            <a:srgbClr val="FFFFFF"/>
          </a:solidFill>
          <a:ln w="12700">
            <a:solidFill>
              <a:srgbClr val="E3E7F2"/>
            </a:solidFill>
            <a:prstDash val="solid"/>
          </a:ln>
          <a:effectLst>
            <a:outerShdw blurRad="101600" dist="38100" dir="5400000" algn="bl" rotWithShape="0">
              <a:srgbClr val="1E2761">
                <a:alpha val="12000"/>
              </a:srgbClr>
            </a:outerShdw>
          </a:effectLst>
        </p:spPr>
      </p:sp>
      <p:sp>
        <p:nvSpPr>
          <p:cNvPr id="15" name="Text 13"/>
          <p:cNvSpPr/>
          <p:nvPr/>
        </p:nvSpPr>
        <p:spPr>
          <a:xfrm>
            <a:off x="9605772" y="2971800"/>
            <a:ext cx="1842516" cy="548640"/>
          </a:xfrm>
          <a:prstGeom prst="rect">
            <a:avLst/>
          </a:prstGeom>
          <a:noFill/>
          <a:ln/>
        </p:spPr>
        <p:txBody>
          <a:bodyPr wrap="square" rtlCol="0" anchor="ctr"/>
          <a:lstStyle/>
          <a:p>
            <a:pPr marL="0" indent="0">
              <a:buNone/>
            </a:pPr>
            <a:r>
              <a:rPr lang="en-US" sz="2400" b="1" dirty="0">
                <a:solidFill>
                  <a:srgbClr val="F2545B"/>
                </a:solidFill>
                <a:latin typeface="Cambria" pitchFamily="34" charset="0"/>
                <a:ea typeface="Cambria" pitchFamily="34" charset="-122"/>
                <a:cs typeface="Cambria" pitchFamily="34" charset="-120"/>
              </a:rPr>
              <a:t>3.2 / 5</a:t>
            </a:r>
            <a:endParaRPr lang="en-US" sz="2400" dirty="0"/>
          </a:p>
        </p:txBody>
      </p:sp>
      <p:sp>
        <p:nvSpPr>
          <p:cNvPr id="16" name="Text 14"/>
          <p:cNvSpPr/>
          <p:nvPr/>
        </p:nvSpPr>
        <p:spPr>
          <a:xfrm>
            <a:off x="9605772" y="3547872"/>
            <a:ext cx="1842516" cy="457200"/>
          </a:xfrm>
          <a:prstGeom prst="rect">
            <a:avLst/>
          </a:prstGeom>
          <a:noFill/>
          <a:ln/>
        </p:spPr>
        <p:txBody>
          <a:bodyPr wrap="square" rtlCol="0" anchor="ctr"/>
          <a:lstStyle/>
          <a:p>
            <a:pPr marL="0" indent="0">
              <a:lnSpc>
                <a:spcPts val="1300"/>
              </a:lnSpc>
              <a:buNone/>
            </a:pPr>
            <a:r>
              <a:rPr lang="en-US" sz="1100" dirty="0">
                <a:solidFill>
                  <a:srgbClr val="6B7280"/>
                </a:solidFill>
                <a:latin typeface="Calibri" pitchFamily="34" charset="0"/>
                <a:ea typeface="Calibri" pitchFamily="34" charset="-122"/>
                <a:cs typeface="Calibri" pitchFamily="34" charset="-120"/>
              </a:rPr>
              <a:t>Median South satisfaction score</a:t>
            </a:r>
            <a:endParaRPr lang="en-US" sz="1100" dirty="0"/>
          </a:p>
        </p:txBody>
      </p:sp>
      <p:sp>
        <p:nvSpPr>
          <p:cNvPr id="17" name="Shape 15"/>
          <p:cNvSpPr/>
          <p:nvPr/>
        </p:nvSpPr>
        <p:spPr>
          <a:xfrm>
            <a:off x="548640" y="4892040"/>
            <a:ext cx="11091672" cy="0"/>
          </a:xfrm>
          <a:prstGeom prst="line">
            <a:avLst/>
          </a:prstGeom>
          <a:noFill/>
          <a:ln w="12700">
            <a:solidFill>
              <a:srgbClr val="D9DEEC"/>
            </a:solidFill>
            <a:prstDash val="solid"/>
          </a:ln>
        </p:spPr>
      </p:sp>
      <p:sp>
        <p:nvSpPr>
          <p:cNvPr id="18" name="Shape 16"/>
          <p:cNvSpPr/>
          <p:nvPr/>
        </p:nvSpPr>
        <p:spPr>
          <a:xfrm>
            <a:off x="548640" y="5166360"/>
            <a:ext cx="82296" cy="82296"/>
          </a:xfrm>
          <a:prstGeom prst="ellipse">
            <a:avLst/>
          </a:prstGeom>
          <a:solidFill>
            <a:srgbClr val="E8B84B"/>
          </a:solidFill>
          <a:ln/>
        </p:spPr>
      </p:sp>
      <p:sp>
        <p:nvSpPr>
          <p:cNvPr id="19" name="Text 17"/>
          <p:cNvSpPr/>
          <p:nvPr/>
        </p:nvSpPr>
        <p:spPr>
          <a:xfrm>
            <a:off x="749808" y="5056632"/>
            <a:ext cx="3337560" cy="548640"/>
          </a:xfrm>
          <a:prstGeom prst="rect">
            <a:avLst/>
          </a:prstGeom>
          <a:noFill/>
          <a:ln/>
        </p:spPr>
        <p:txBody>
          <a:bodyPr wrap="square" rtlCol="0" anchor="ctr"/>
          <a:lstStyle/>
          <a:p>
            <a:pPr marL="0" indent="0">
              <a:lnSpc>
                <a:spcPts val="1500"/>
              </a:lnSpc>
              <a:buNone/>
            </a:pPr>
            <a:r>
              <a:rPr lang="en-US" sz="1200" dirty="0">
                <a:solidFill>
                  <a:srgbClr val="333B57"/>
                </a:solidFill>
                <a:latin typeface="Calibri" pitchFamily="34" charset="0"/>
                <a:ea typeface="Calibri" pitchFamily="34" charset="-122"/>
                <a:cs typeface="Calibri" pitchFamily="34" charset="-120"/>
              </a:rPr>
              <a:t>South leads sales, but trails on delivery speed &amp; satisfaction</a:t>
            </a:r>
            <a:endParaRPr lang="en-US" sz="1200" dirty="0"/>
          </a:p>
        </p:txBody>
      </p:sp>
      <p:sp>
        <p:nvSpPr>
          <p:cNvPr id="20" name="Shape 18"/>
          <p:cNvSpPr/>
          <p:nvPr/>
        </p:nvSpPr>
        <p:spPr>
          <a:xfrm>
            <a:off x="4251960" y="5166360"/>
            <a:ext cx="82296" cy="82296"/>
          </a:xfrm>
          <a:prstGeom prst="ellipse">
            <a:avLst/>
          </a:prstGeom>
          <a:solidFill>
            <a:srgbClr val="E8B84B"/>
          </a:solidFill>
          <a:ln/>
        </p:spPr>
      </p:sp>
      <p:sp>
        <p:nvSpPr>
          <p:cNvPr id="21" name="Text 19"/>
          <p:cNvSpPr/>
          <p:nvPr/>
        </p:nvSpPr>
        <p:spPr>
          <a:xfrm>
            <a:off x="4453128" y="5056632"/>
            <a:ext cx="3337560" cy="548640"/>
          </a:xfrm>
          <a:prstGeom prst="rect">
            <a:avLst/>
          </a:prstGeom>
          <a:noFill/>
          <a:ln/>
        </p:spPr>
        <p:txBody>
          <a:bodyPr wrap="square" rtlCol="0" anchor="ctr"/>
          <a:lstStyle/>
          <a:p>
            <a:pPr marL="0" indent="0">
              <a:lnSpc>
                <a:spcPts val="1500"/>
              </a:lnSpc>
              <a:buNone/>
            </a:pPr>
            <a:r>
              <a:rPr lang="en-US" sz="1200" dirty="0">
                <a:solidFill>
                  <a:srgbClr val="333B57"/>
                </a:solidFill>
                <a:latin typeface="Calibri" pitchFamily="34" charset="0"/>
                <a:ea typeface="Calibri" pitchFamily="34" charset="-122"/>
                <a:cs typeface="Calibri" pitchFamily="34" charset="-120"/>
              </a:rPr>
              <a:t>Electronics is the profit engine; Furniture lags</a:t>
            </a:r>
            <a:endParaRPr lang="en-US" sz="1200" dirty="0"/>
          </a:p>
        </p:txBody>
      </p:sp>
      <p:sp>
        <p:nvSpPr>
          <p:cNvPr id="22" name="Shape 20"/>
          <p:cNvSpPr/>
          <p:nvPr/>
        </p:nvSpPr>
        <p:spPr>
          <a:xfrm>
            <a:off x="7955280" y="5166360"/>
            <a:ext cx="82296" cy="82296"/>
          </a:xfrm>
          <a:prstGeom prst="ellipse">
            <a:avLst/>
          </a:prstGeom>
          <a:solidFill>
            <a:srgbClr val="E8B84B"/>
          </a:solidFill>
          <a:ln/>
        </p:spPr>
      </p:sp>
      <p:sp>
        <p:nvSpPr>
          <p:cNvPr id="23" name="Text 21"/>
          <p:cNvSpPr/>
          <p:nvPr/>
        </p:nvSpPr>
        <p:spPr>
          <a:xfrm>
            <a:off x="8156448" y="5056632"/>
            <a:ext cx="3337560" cy="548640"/>
          </a:xfrm>
          <a:prstGeom prst="rect">
            <a:avLst/>
          </a:prstGeom>
          <a:noFill/>
          <a:ln/>
        </p:spPr>
        <p:txBody>
          <a:bodyPr wrap="square" rtlCol="0" anchor="ctr"/>
          <a:lstStyle/>
          <a:p>
            <a:pPr marL="0" indent="0">
              <a:lnSpc>
                <a:spcPts val="1500"/>
              </a:lnSpc>
              <a:buNone/>
            </a:pPr>
            <a:r>
              <a:rPr lang="en-US" sz="1200" dirty="0">
                <a:solidFill>
                  <a:srgbClr val="333B57"/>
                </a:solidFill>
                <a:latin typeface="Calibri" pitchFamily="34" charset="0"/>
                <a:ea typeface="Calibri" pitchFamily="34" charset="-122"/>
                <a:cs typeface="Calibri" pitchFamily="34" charset="-120"/>
              </a:rPr>
              <a:t>East region is the clearest growth opportunity</a:t>
            </a:r>
            <a:endParaRPr lang="en-US" sz="1200" dirty="0"/>
          </a:p>
        </p:txBody>
      </p:sp>
      <p:sp>
        <p:nvSpPr>
          <p:cNvPr id="24" name="Text 22"/>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9AA3B5"/>
                </a:solidFill>
                <a:latin typeface="Calibri" pitchFamily="34" charset="0"/>
                <a:ea typeface="Calibri" pitchFamily="34" charset="-122"/>
                <a:cs typeface="Calibri" pitchFamily="34" charset="-120"/>
              </a:rPr>
              <a:t>Section 1 · Overview</a:t>
            </a:r>
            <a:endParaRPr lang="en-US" sz="1000" dirty="0"/>
          </a:p>
        </p:txBody>
      </p:sp>
      <p:sp>
        <p:nvSpPr>
          <p:cNvPr id="25" name="Text 23"/>
          <p:cNvSpPr/>
          <p:nvPr/>
        </p:nvSpPr>
        <p:spPr>
          <a:xfrm>
            <a:off x="7589520" y="6537960"/>
            <a:ext cx="4114800" cy="274320"/>
          </a:xfrm>
          <a:prstGeom prst="rect">
            <a:avLst/>
          </a:prstGeom>
          <a:noFill/>
          <a:ln/>
        </p:spPr>
        <p:txBody>
          <a:bodyPr wrap="square" rtlCol="0" anchor="ctr"/>
          <a:lstStyle/>
          <a:p>
            <a:pPr marL="0" indent="0" algn="r">
              <a:buNone/>
            </a:pPr>
            <a:r>
              <a:rPr lang="en-US" sz="1000" dirty="0">
                <a:solidFill>
                  <a:srgbClr val="9AA3B5"/>
                </a:solidFill>
                <a:latin typeface="Calibri" pitchFamily="34" charset="0"/>
                <a:ea typeface="Calibri" pitchFamily="34" charset="-122"/>
                <a:cs typeface="Calibri" pitchFamily="34" charset="-120"/>
              </a:rPr>
              <a:t>NeoMart Retail Performance Analysis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36576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SITUATION &amp; COMPLICATION</a:t>
            </a:r>
            <a:endParaRPr lang="en-US" sz="1200" dirty="0"/>
          </a:p>
        </p:txBody>
      </p:sp>
      <p:sp>
        <p:nvSpPr>
          <p:cNvPr id="3" name="Text 1"/>
          <p:cNvSpPr/>
          <p:nvPr/>
        </p:nvSpPr>
        <p:spPr>
          <a:xfrm>
            <a:off x="548640" y="713232"/>
            <a:ext cx="10515600" cy="548640"/>
          </a:xfrm>
          <a:prstGeom prst="rect">
            <a:avLst/>
          </a:prstGeom>
          <a:noFill/>
          <a:ln/>
        </p:spPr>
        <p:txBody>
          <a:bodyPr wrap="square" rtlCol="0" anchor="ctr"/>
          <a:lstStyle/>
          <a:p>
            <a:pPr marL="0" indent="0">
              <a:buNone/>
            </a:pPr>
            <a:r>
              <a:rPr lang="en-US" sz="2800" b="1" dirty="0">
                <a:solidFill>
                  <a:srgbClr val="141B4D"/>
                </a:solidFill>
                <a:latin typeface="Cambria" pitchFamily="34" charset="0"/>
                <a:ea typeface="Cambria" pitchFamily="34" charset="-122"/>
                <a:cs typeface="Cambria" pitchFamily="34" charset="-120"/>
              </a:rPr>
              <a:t>Why we looked, and what we found</a:t>
            </a:r>
            <a:endParaRPr lang="en-US" sz="2800" dirty="0"/>
          </a:p>
        </p:txBody>
      </p:sp>
      <p:sp>
        <p:nvSpPr>
          <p:cNvPr id="4" name="Shape 2"/>
          <p:cNvSpPr/>
          <p:nvPr/>
        </p:nvSpPr>
        <p:spPr>
          <a:xfrm>
            <a:off x="548640" y="1508760"/>
            <a:ext cx="5120640" cy="4663440"/>
          </a:xfrm>
          <a:prstGeom prst="roundRect">
            <a:avLst>
              <a:gd name="adj" fmla="val 1569"/>
            </a:avLst>
          </a:prstGeom>
          <a:solidFill>
            <a:srgbClr val="1E2761"/>
          </a:solidFill>
          <a:ln/>
        </p:spPr>
      </p:sp>
      <p:sp>
        <p:nvSpPr>
          <p:cNvPr id="5" name="Text 3"/>
          <p:cNvSpPr/>
          <p:nvPr/>
        </p:nvSpPr>
        <p:spPr>
          <a:xfrm>
            <a:off x="868680" y="1783080"/>
            <a:ext cx="4572000" cy="320040"/>
          </a:xfrm>
          <a:prstGeom prst="rect">
            <a:avLst/>
          </a:prstGeom>
          <a:noFill/>
          <a:ln/>
        </p:spPr>
        <p:txBody>
          <a:bodyPr wrap="square" rtlCol="0" anchor="ctr"/>
          <a:lstStyle/>
          <a:p>
            <a:pPr marL="0" indent="0">
              <a:buNone/>
            </a:pPr>
            <a:r>
              <a:rPr lang="en-US" sz="1300" b="1" kern="0" spc="200" dirty="0">
                <a:solidFill>
                  <a:srgbClr val="E8B84B"/>
                </a:solidFill>
                <a:latin typeface="Calibri" pitchFamily="34" charset="0"/>
                <a:ea typeface="Calibri" pitchFamily="34" charset="-122"/>
                <a:cs typeface="Calibri" pitchFamily="34" charset="-120"/>
              </a:rPr>
              <a:t>SITUATION</a:t>
            </a:r>
            <a:endParaRPr lang="en-US" sz="1300" dirty="0"/>
          </a:p>
        </p:txBody>
      </p:sp>
      <p:sp>
        <p:nvSpPr>
          <p:cNvPr id="6" name="Text 4"/>
          <p:cNvSpPr/>
          <p:nvPr/>
        </p:nvSpPr>
        <p:spPr>
          <a:xfrm>
            <a:off x="868680" y="2194560"/>
            <a:ext cx="4480560" cy="1554480"/>
          </a:xfrm>
          <a:prstGeom prst="rect">
            <a:avLst/>
          </a:prstGeom>
          <a:noFill/>
          <a:ln/>
        </p:spPr>
        <p:txBody>
          <a:bodyPr wrap="square" rtlCol="0" anchor="ctr"/>
          <a:lstStyle/>
          <a:p>
            <a:pPr marL="0" indent="0">
              <a:lnSpc>
                <a:spcPts val="2100"/>
              </a:lnSpc>
              <a:buNone/>
            </a:pPr>
            <a:r>
              <a:rPr lang="en-US" sz="1400" dirty="0">
                <a:solidFill>
                  <a:srgbClr val="CADCFC"/>
                </a:solidFill>
                <a:latin typeface="Calibri" pitchFamily="34" charset="0"/>
                <a:ea typeface="Calibri" pitchFamily="34" charset="-122"/>
                <a:cs typeface="Calibri" pitchFamily="34" charset="-120"/>
              </a:rPr>
              <a:t>NeoMart analyzed its retail sales data to evaluate performance across regions and product categories — covering sales trends, profitability drivers, customer satisfaction, delivery performance, and the impact of discounting on profit.</a:t>
            </a:r>
            <a:endParaRPr lang="en-US" sz="1400" dirty="0"/>
          </a:p>
        </p:txBody>
      </p:sp>
      <p:sp>
        <p:nvSpPr>
          <p:cNvPr id="7" name="Text 5"/>
          <p:cNvSpPr/>
          <p:nvPr/>
        </p:nvSpPr>
        <p:spPr>
          <a:xfrm>
            <a:off x="868680" y="3886200"/>
            <a:ext cx="4480560" cy="1188720"/>
          </a:xfrm>
          <a:prstGeom prst="rect">
            <a:avLst/>
          </a:prstGeom>
          <a:noFill/>
          <a:ln/>
        </p:spPr>
        <p:txBody>
          <a:bodyPr wrap="square" rtlCol="0" anchor="ctr"/>
          <a:lstStyle/>
          <a:p>
            <a:pPr marL="0" indent="0">
              <a:lnSpc>
                <a:spcPts val="2000"/>
              </a:lnSpc>
              <a:buNone/>
            </a:pPr>
            <a:r>
              <a:rPr lang="en-US" sz="1350" i="1" dirty="0">
                <a:solidFill>
                  <a:srgbClr val="CADCFC"/>
                </a:solidFill>
                <a:latin typeface="Calibri" pitchFamily="34" charset="0"/>
                <a:ea typeface="Calibri" pitchFamily="34" charset="-122"/>
                <a:cs typeface="Calibri" pitchFamily="34" charset="-120"/>
              </a:rPr>
              <a:t>The goal: give management the evidence needed to improve profitability, customer experience, and operational efficiency.</a:t>
            </a:r>
            <a:endParaRPr lang="en-US" sz="1350" dirty="0"/>
          </a:p>
        </p:txBody>
      </p:sp>
      <p:sp>
        <p:nvSpPr>
          <p:cNvPr id="8" name="Shape 6"/>
          <p:cNvSpPr/>
          <p:nvPr/>
        </p:nvSpPr>
        <p:spPr>
          <a:xfrm>
            <a:off x="5989320" y="1563624"/>
            <a:ext cx="91440" cy="91440"/>
          </a:xfrm>
          <a:prstGeom prst="ellipse">
            <a:avLst/>
          </a:prstGeom>
          <a:solidFill>
            <a:srgbClr val="F2545B"/>
          </a:solidFill>
          <a:ln/>
        </p:spPr>
      </p:sp>
      <p:sp>
        <p:nvSpPr>
          <p:cNvPr id="9" name="Text 7"/>
          <p:cNvSpPr/>
          <p:nvPr/>
        </p:nvSpPr>
        <p:spPr>
          <a:xfrm>
            <a:off x="6217920" y="1508760"/>
            <a:ext cx="5394960" cy="274320"/>
          </a:xfrm>
          <a:prstGeom prst="rect">
            <a:avLst/>
          </a:prstGeom>
          <a:noFill/>
          <a:ln/>
        </p:spPr>
        <p:txBody>
          <a:bodyPr wrap="square" rtlCol="0" anchor="ctr"/>
          <a:lstStyle/>
          <a:p>
            <a:pPr marL="0" indent="0">
              <a:buNone/>
            </a:pPr>
            <a:r>
              <a:rPr lang="en-US" sz="1350" b="1" dirty="0">
                <a:solidFill>
                  <a:srgbClr val="141B4D"/>
                </a:solidFill>
                <a:latin typeface="Calibri" pitchFamily="34" charset="0"/>
                <a:ea typeface="Calibri" pitchFamily="34" charset="-122"/>
                <a:cs typeface="Calibri" pitchFamily="34" charset="-120"/>
              </a:rPr>
              <a:t>Volatile monthly sales</a:t>
            </a:r>
            <a:endParaRPr lang="en-US" sz="1350" dirty="0"/>
          </a:p>
        </p:txBody>
      </p:sp>
      <p:sp>
        <p:nvSpPr>
          <p:cNvPr id="10" name="Text 8"/>
          <p:cNvSpPr/>
          <p:nvPr/>
        </p:nvSpPr>
        <p:spPr>
          <a:xfrm>
            <a:off x="6217920" y="1801368"/>
            <a:ext cx="5394960" cy="548640"/>
          </a:xfrm>
          <a:prstGeom prst="rect">
            <a:avLst/>
          </a:prstGeom>
          <a:noFill/>
          <a:ln/>
        </p:spPr>
        <p:txBody>
          <a:bodyPr wrap="square" rtlCol="0" anchor="ctr"/>
          <a:lstStyle/>
          <a:p>
            <a:pPr marL="0" indent="0">
              <a:lnSpc>
                <a:spcPts val="1500"/>
              </a:lnSpc>
              <a:buNone/>
            </a:pPr>
            <a:r>
              <a:rPr lang="en-US" sz="1200" dirty="0">
                <a:solidFill>
                  <a:srgbClr val="6B7280"/>
                </a:solidFill>
                <a:latin typeface="Calibri" pitchFamily="34" charset="0"/>
                <a:ea typeface="Calibri" pitchFamily="34" charset="-122"/>
                <a:cs typeface="Calibri" pitchFamily="34" charset="-120"/>
              </a:rPr>
              <a:t>A sharp Jan→Feb drop, a June-July dip, then a steady climb to a December peak — pointing to seasonal and promotional swings.</a:t>
            </a:r>
            <a:endParaRPr lang="en-US" sz="1200" dirty="0"/>
          </a:p>
        </p:txBody>
      </p:sp>
      <p:sp>
        <p:nvSpPr>
          <p:cNvPr id="11" name="Shape 9"/>
          <p:cNvSpPr/>
          <p:nvPr/>
        </p:nvSpPr>
        <p:spPr>
          <a:xfrm>
            <a:off x="5989320" y="2478024"/>
            <a:ext cx="91440" cy="91440"/>
          </a:xfrm>
          <a:prstGeom prst="ellipse">
            <a:avLst/>
          </a:prstGeom>
          <a:solidFill>
            <a:srgbClr val="F2545B"/>
          </a:solidFill>
          <a:ln/>
        </p:spPr>
      </p:sp>
      <p:sp>
        <p:nvSpPr>
          <p:cNvPr id="12" name="Text 10"/>
          <p:cNvSpPr/>
          <p:nvPr/>
        </p:nvSpPr>
        <p:spPr>
          <a:xfrm>
            <a:off x="6217920" y="2423160"/>
            <a:ext cx="5394960" cy="274320"/>
          </a:xfrm>
          <a:prstGeom prst="rect">
            <a:avLst/>
          </a:prstGeom>
          <a:noFill/>
          <a:ln/>
        </p:spPr>
        <p:txBody>
          <a:bodyPr wrap="square" rtlCol="0" anchor="ctr"/>
          <a:lstStyle/>
          <a:p>
            <a:pPr marL="0" indent="0">
              <a:buNone/>
            </a:pPr>
            <a:r>
              <a:rPr lang="en-US" sz="1350" b="1" dirty="0">
                <a:solidFill>
                  <a:srgbClr val="141B4D"/>
                </a:solidFill>
                <a:latin typeface="Calibri" pitchFamily="34" charset="0"/>
                <a:ea typeface="Calibri" pitchFamily="34" charset="-122"/>
                <a:cs typeface="Calibri" pitchFamily="34" charset="-120"/>
              </a:rPr>
              <a:t>Regional imbalance</a:t>
            </a:r>
            <a:endParaRPr lang="en-US" sz="1350" dirty="0"/>
          </a:p>
        </p:txBody>
      </p:sp>
      <p:sp>
        <p:nvSpPr>
          <p:cNvPr id="13" name="Text 11"/>
          <p:cNvSpPr/>
          <p:nvPr/>
        </p:nvSpPr>
        <p:spPr>
          <a:xfrm>
            <a:off x="6217920" y="2715768"/>
            <a:ext cx="5394960" cy="548640"/>
          </a:xfrm>
          <a:prstGeom prst="rect">
            <a:avLst/>
          </a:prstGeom>
          <a:noFill/>
          <a:ln/>
        </p:spPr>
        <p:txBody>
          <a:bodyPr wrap="square" rtlCol="0" anchor="ctr"/>
          <a:lstStyle/>
          <a:p>
            <a:pPr marL="0" indent="0">
              <a:lnSpc>
                <a:spcPts val="1500"/>
              </a:lnSpc>
              <a:buNone/>
            </a:pPr>
            <a:r>
              <a:rPr lang="en-US" sz="1200" dirty="0">
                <a:solidFill>
                  <a:srgbClr val="6B7280"/>
                </a:solidFill>
                <a:latin typeface="Calibri" pitchFamily="34" charset="0"/>
                <a:ea typeface="Calibri" pitchFamily="34" charset="-122"/>
                <a:cs typeface="Calibri" pitchFamily="34" charset="-120"/>
              </a:rPr>
              <a:t>South leads total sales by a wide margin; East trails all regions.</a:t>
            </a:r>
            <a:endParaRPr lang="en-US" sz="1200" dirty="0"/>
          </a:p>
        </p:txBody>
      </p:sp>
      <p:sp>
        <p:nvSpPr>
          <p:cNvPr id="14" name="Shape 12"/>
          <p:cNvSpPr/>
          <p:nvPr/>
        </p:nvSpPr>
        <p:spPr>
          <a:xfrm>
            <a:off x="5989320" y="3392424"/>
            <a:ext cx="91440" cy="91440"/>
          </a:xfrm>
          <a:prstGeom prst="ellipse">
            <a:avLst/>
          </a:prstGeom>
          <a:solidFill>
            <a:srgbClr val="F2545B"/>
          </a:solidFill>
          <a:ln/>
        </p:spPr>
      </p:sp>
      <p:sp>
        <p:nvSpPr>
          <p:cNvPr id="15" name="Text 13"/>
          <p:cNvSpPr/>
          <p:nvPr/>
        </p:nvSpPr>
        <p:spPr>
          <a:xfrm>
            <a:off x="6217920" y="3337560"/>
            <a:ext cx="5394960" cy="274320"/>
          </a:xfrm>
          <a:prstGeom prst="rect">
            <a:avLst/>
          </a:prstGeom>
          <a:noFill/>
          <a:ln/>
        </p:spPr>
        <p:txBody>
          <a:bodyPr wrap="square" rtlCol="0" anchor="ctr"/>
          <a:lstStyle/>
          <a:p>
            <a:pPr marL="0" indent="0">
              <a:buNone/>
            </a:pPr>
            <a:r>
              <a:rPr lang="en-US" sz="1350" b="1" dirty="0">
                <a:solidFill>
                  <a:srgbClr val="141B4D"/>
                </a:solidFill>
                <a:latin typeface="Calibri" pitchFamily="34" charset="0"/>
                <a:ea typeface="Calibri" pitchFamily="34" charset="-122"/>
                <a:cs typeface="Calibri" pitchFamily="34" charset="-120"/>
              </a:rPr>
              <a:t>Uneven product profit</a:t>
            </a:r>
            <a:endParaRPr lang="en-US" sz="1350" dirty="0"/>
          </a:p>
        </p:txBody>
      </p:sp>
      <p:sp>
        <p:nvSpPr>
          <p:cNvPr id="16" name="Text 14"/>
          <p:cNvSpPr/>
          <p:nvPr/>
        </p:nvSpPr>
        <p:spPr>
          <a:xfrm>
            <a:off x="6217920" y="3630168"/>
            <a:ext cx="5394960" cy="548640"/>
          </a:xfrm>
          <a:prstGeom prst="rect">
            <a:avLst/>
          </a:prstGeom>
          <a:noFill/>
          <a:ln/>
        </p:spPr>
        <p:txBody>
          <a:bodyPr wrap="square" rtlCol="0" anchor="ctr"/>
          <a:lstStyle/>
          <a:p>
            <a:pPr marL="0" indent="0">
              <a:lnSpc>
                <a:spcPts val="1500"/>
              </a:lnSpc>
              <a:buNone/>
            </a:pPr>
            <a:r>
              <a:rPr lang="en-US" sz="1200" dirty="0">
                <a:solidFill>
                  <a:srgbClr val="6B7280"/>
                </a:solidFill>
                <a:latin typeface="Calibri" pitchFamily="34" charset="0"/>
                <a:ea typeface="Calibri" pitchFamily="34" charset="-122"/>
                <a:cs typeface="Calibri" pitchFamily="34" charset="-120"/>
              </a:rPr>
              <a:t>Electronics drives the most profit; Furniture contributes the least.</a:t>
            </a:r>
            <a:endParaRPr lang="en-US" sz="1200" dirty="0"/>
          </a:p>
        </p:txBody>
      </p:sp>
      <p:sp>
        <p:nvSpPr>
          <p:cNvPr id="17" name="Shape 15"/>
          <p:cNvSpPr/>
          <p:nvPr/>
        </p:nvSpPr>
        <p:spPr>
          <a:xfrm>
            <a:off x="5989320" y="4306824"/>
            <a:ext cx="91440" cy="91440"/>
          </a:xfrm>
          <a:prstGeom prst="ellipse">
            <a:avLst/>
          </a:prstGeom>
          <a:solidFill>
            <a:srgbClr val="F2545B"/>
          </a:solidFill>
          <a:ln/>
        </p:spPr>
      </p:sp>
      <p:sp>
        <p:nvSpPr>
          <p:cNvPr id="18" name="Text 16"/>
          <p:cNvSpPr/>
          <p:nvPr/>
        </p:nvSpPr>
        <p:spPr>
          <a:xfrm>
            <a:off x="6217920" y="4251960"/>
            <a:ext cx="5394960" cy="274320"/>
          </a:xfrm>
          <a:prstGeom prst="rect">
            <a:avLst/>
          </a:prstGeom>
          <a:noFill/>
          <a:ln/>
        </p:spPr>
        <p:txBody>
          <a:bodyPr wrap="square" rtlCol="0" anchor="ctr"/>
          <a:lstStyle/>
          <a:p>
            <a:pPr marL="0" indent="0">
              <a:buNone/>
            </a:pPr>
            <a:r>
              <a:rPr lang="en-US" sz="1350" b="1" dirty="0">
                <a:solidFill>
                  <a:srgbClr val="141B4D"/>
                </a:solidFill>
                <a:latin typeface="Calibri" pitchFamily="34" charset="0"/>
                <a:ea typeface="Calibri" pitchFamily="34" charset="-122"/>
                <a:cs typeface="Calibri" pitchFamily="34" charset="-120"/>
              </a:rPr>
              <a:t>Discounting hurts margin</a:t>
            </a:r>
            <a:endParaRPr lang="en-US" sz="1350" dirty="0"/>
          </a:p>
        </p:txBody>
      </p:sp>
      <p:sp>
        <p:nvSpPr>
          <p:cNvPr id="19" name="Text 17"/>
          <p:cNvSpPr/>
          <p:nvPr/>
        </p:nvSpPr>
        <p:spPr>
          <a:xfrm>
            <a:off x="6217920" y="4544568"/>
            <a:ext cx="5394960" cy="548640"/>
          </a:xfrm>
          <a:prstGeom prst="rect">
            <a:avLst/>
          </a:prstGeom>
          <a:noFill/>
          <a:ln/>
        </p:spPr>
        <p:txBody>
          <a:bodyPr wrap="square" rtlCol="0" anchor="ctr"/>
          <a:lstStyle/>
          <a:p>
            <a:pPr marL="0" indent="0">
              <a:lnSpc>
                <a:spcPts val="1500"/>
              </a:lnSpc>
              <a:buNone/>
            </a:pPr>
            <a:r>
              <a:rPr lang="en-US" sz="1200" dirty="0">
                <a:solidFill>
                  <a:srgbClr val="6B7280"/>
                </a:solidFill>
                <a:latin typeface="Calibri" pitchFamily="34" charset="0"/>
                <a:ea typeface="Calibri" pitchFamily="34" charset="-122"/>
                <a:cs typeface="Calibri" pitchFamily="34" charset="-120"/>
              </a:rPr>
              <a:t>A moderate negative correlation (r = -0.45) links bigger discounts to lower profit.</a:t>
            </a:r>
            <a:endParaRPr lang="en-US" sz="1200" dirty="0"/>
          </a:p>
        </p:txBody>
      </p:sp>
      <p:sp>
        <p:nvSpPr>
          <p:cNvPr id="20" name="Shape 18"/>
          <p:cNvSpPr/>
          <p:nvPr/>
        </p:nvSpPr>
        <p:spPr>
          <a:xfrm>
            <a:off x="5989320" y="5221224"/>
            <a:ext cx="91440" cy="91440"/>
          </a:xfrm>
          <a:prstGeom prst="ellipse">
            <a:avLst/>
          </a:prstGeom>
          <a:solidFill>
            <a:srgbClr val="F2545B"/>
          </a:solidFill>
          <a:ln/>
        </p:spPr>
      </p:sp>
      <p:sp>
        <p:nvSpPr>
          <p:cNvPr id="21" name="Text 19"/>
          <p:cNvSpPr/>
          <p:nvPr/>
        </p:nvSpPr>
        <p:spPr>
          <a:xfrm>
            <a:off x="6217920" y="5166360"/>
            <a:ext cx="5394960" cy="274320"/>
          </a:xfrm>
          <a:prstGeom prst="rect">
            <a:avLst/>
          </a:prstGeom>
          <a:noFill/>
          <a:ln/>
        </p:spPr>
        <p:txBody>
          <a:bodyPr wrap="square" rtlCol="0" anchor="ctr"/>
          <a:lstStyle/>
          <a:p>
            <a:pPr marL="0" indent="0">
              <a:buNone/>
            </a:pPr>
            <a:r>
              <a:rPr lang="en-US" sz="1350" b="1" dirty="0">
                <a:solidFill>
                  <a:srgbClr val="141B4D"/>
                </a:solidFill>
                <a:latin typeface="Calibri" pitchFamily="34" charset="0"/>
                <a:ea typeface="Calibri" pitchFamily="34" charset="-122"/>
                <a:cs typeface="Calibri" pitchFamily="34" charset="-120"/>
              </a:rPr>
              <a:t>South's service strain</a:t>
            </a:r>
            <a:endParaRPr lang="en-US" sz="1350" dirty="0"/>
          </a:p>
        </p:txBody>
      </p:sp>
      <p:sp>
        <p:nvSpPr>
          <p:cNvPr id="22" name="Text 20"/>
          <p:cNvSpPr/>
          <p:nvPr/>
        </p:nvSpPr>
        <p:spPr>
          <a:xfrm>
            <a:off x="6217920" y="5458968"/>
            <a:ext cx="5394960" cy="548640"/>
          </a:xfrm>
          <a:prstGeom prst="rect">
            <a:avLst/>
          </a:prstGeom>
          <a:noFill/>
          <a:ln/>
        </p:spPr>
        <p:txBody>
          <a:bodyPr wrap="square" rtlCol="0" anchor="ctr"/>
          <a:lstStyle/>
          <a:p>
            <a:pPr marL="0" indent="0">
              <a:lnSpc>
                <a:spcPts val="1500"/>
              </a:lnSpc>
              <a:buNone/>
            </a:pPr>
            <a:r>
              <a:rPr lang="en-US" sz="1200" dirty="0">
                <a:solidFill>
                  <a:srgbClr val="6B7280"/>
                </a:solidFill>
                <a:latin typeface="Calibri" pitchFamily="34" charset="0"/>
                <a:ea typeface="Calibri" pitchFamily="34" charset="-122"/>
                <a:cs typeface="Calibri" pitchFamily="34" charset="-120"/>
              </a:rPr>
              <a:t>Longest delivery times and lowest, most inconsistent satisfaction scores — despite leading in sales.</a:t>
            </a:r>
            <a:endParaRPr lang="en-US" sz="1200" dirty="0"/>
          </a:p>
        </p:txBody>
      </p:sp>
      <p:sp>
        <p:nvSpPr>
          <p:cNvPr id="23" name="Text 21"/>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9AA3B5"/>
                </a:solidFill>
                <a:latin typeface="Calibri" pitchFamily="34" charset="0"/>
                <a:ea typeface="Calibri" pitchFamily="34" charset="-122"/>
                <a:cs typeface="Calibri" pitchFamily="34" charset="-120"/>
              </a:rPr>
              <a:t>Section 2 · Business Context</a:t>
            </a:r>
            <a:endParaRPr lang="en-US" sz="1000" dirty="0"/>
          </a:p>
        </p:txBody>
      </p:sp>
      <p:sp>
        <p:nvSpPr>
          <p:cNvPr id="24" name="Text 22"/>
          <p:cNvSpPr/>
          <p:nvPr/>
        </p:nvSpPr>
        <p:spPr>
          <a:xfrm>
            <a:off x="7589520" y="6537960"/>
            <a:ext cx="4114800" cy="274320"/>
          </a:xfrm>
          <a:prstGeom prst="rect">
            <a:avLst/>
          </a:prstGeom>
          <a:noFill/>
          <a:ln/>
        </p:spPr>
        <p:txBody>
          <a:bodyPr wrap="square" rtlCol="0" anchor="ctr"/>
          <a:lstStyle/>
          <a:p>
            <a:pPr marL="0" indent="0" algn="r">
              <a:buNone/>
            </a:pPr>
            <a:r>
              <a:rPr lang="en-US" sz="1000" dirty="0">
                <a:solidFill>
                  <a:srgbClr val="9AA3B5"/>
                </a:solidFill>
                <a:latin typeface="Calibri" pitchFamily="34" charset="0"/>
                <a:ea typeface="Calibri" pitchFamily="34" charset="-122"/>
                <a:cs typeface="Calibri" pitchFamily="34" charset="-120"/>
              </a:rPr>
              <a:t>NeoMart Retail Performance Analysis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KEY FINDING · SALES TREND</a:t>
            </a:r>
            <a:endParaRPr lang="en-US" sz="1200" dirty="0"/>
          </a:p>
        </p:txBody>
      </p:sp>
      <p:sp>
        <p:nvSpPr>
          <p:cNvPr id="3" name="Text 1"/>
          <p:cNvSpPr/>
          <p:nvPr/>
        </p:nvSpPr>
        <p:spPr>
          <a:xfrm>
            <a:off x="548640" y="658368"/>
            <a:ext cx="11155680" cy="640080"/>
          </a:xfrm>
          <a:prstGeom prst="rect">
            <a:avLst/>
          </a:prstGeom>
          <a:noFill/>
          <a:ln/>
        </p:spPr>
        <p:txBody>
          <a:bodyPr wrap="square" rtlCol="0" anchor="ctr"/>
          <a:lstStyle/>
          <a:p>
            <a:pPr marL="0" indent="0">
              <a:buNone/>
            </a:pPr>
            <a:r>
              <a:rPr lang="en-US" sz="2200" b="1" dirty="0">
                <a:solidFill>
                  <a:srgbClr val="141B4D"/>
                </a:solidFill>
                <a:latin typeface="Cambria" pitchFamily="34" charset="0"/>
                <a:ea typeface="Cambria" pitchFamily="34" charset="-122"/>
                <a:cs typeface="Cambria" pitchFamily="34" charset="-120"/>
              </a:rPr>
              <a:t>Sales swing hard early in the year, then climb to a December peak</a:t>
            </a:r>
            <a:endParaRPr lang="en-US" sz="2200" dirty="0"/>
          </a:p>
        </p:txBody>
      </p:sp>
      <p:sp>
        <p:nvSpPr>
          <p:cNvPr id="4" name="Shape 2"/>
          <p:cNvSpPr/>
          <p:nvPr/>
        </p:nvSpPr>
        <p:spPr>
          <a:xfrm>
            <a:off x="548640" y="1417320"/>
            <a:ext cx="7040880" cy="4754880"/>
          </a:xfrm>
          <a:prstGeom prst="roundRect">
            <a:avLst>
              <a:gd name="adj" fmla="val 1154"/>
            </a:avLst>
          </a:prstGeom>
          <a:solidFill>
            <a:srgbClr val="F5F7FC"/>
          </a:solidFill>
          <a:ln w="12700">
            <a:solidFill>
              <a:srgbClr val="E3E7F2"/>
            </a:solidFill>
            <a:prstDash val="solid"/>
          </a:ln>
        </p:spPr>
      </p:sp>
      <p:pic>
        <p:nvPicPr>
          <p:cNvPr id="5" name="Image 0" descr="/home/claude/assets/sales_trend.png"/>
          <p:cNvPicPr>
            <a:picLocks noChangeAspect="1"/>
          </p:cNvPicPr>
          <p:nvPr/>
        </p:nvPicPr>
        <p:blipFill>
          <a:blip r:embed="rId3"/>
          <a:stretch>
            <a:fillRect/>
          </a:stretch>
        </p:blipFill>
        <p:spPr>
          <a:xfrm>
            <a:off x="731520" y="1600200"/>
            <a:ext cx="6675120" cy="4389120"/>
          </a:xfrm>
          <a:prstGeom prst="rect">
            <a:avLst/>
          </a:prstGeom>
        </p:spPr>
      </p:pic>
      <p:sp>
        <p:nvSpPr>
          <p:cNvPr id="6" name="Shape 3"/>
          <p:cNvSpPr/>
          <p:nvPr/>
        </p:nvSpPr>
        <p:spPr>
          <a:xfrm>
            <a:off x="7818120" y="1600200"/>
            <a:ext cx="3840480" cy="1234440"/>
          </a:xfrm>
          <a:prstGeom prst="roundRect">
            <a:avLst>
              <a:gd name="adj" fmla="val 5185"/>
            </a:avLst>
          </a:prstGeom>
          <a:solidFill>
            <a:srgbClr val="1E2761"/>
          </a:solidFill>
          <a:ln/>
        </p:spPr>
      </p:sp>
      <p:sp>
        <p:nvSpPr>
          <p:cNvPr id="7" name="Text 4"/>
          <p:cNvSpPr/>
          <p:nvPr/>
        </p:nvSpPr>
        <p:spPr>
          <a:xfrm>
            <a:off x="8046720" y="1728216"/>
            <a:ext cx="3383280" cy="274320"/>
          </a:xfrm>
          <a:prstGeom prst="rect">
            <a:avLst/>
          </a:prstGeom>
          <a:noFill/>
          <a:ln/>
        </p:spPr>
        <p:txBody>
          <a:bodyPr wrap="square" rtlCol="0" anchor="ctr"/>
          <a:lstStyle/>
          <a:p>
            <a:pPr marL="0" indent="0">
              <a:buNone/>
            </a:pPr>
            <a:r>
              <a:rPr lang="en-US" sz="1100" b="1" kern="0" spc="100" dirty="0">
                <a:solidFill>
                  <a:srgbClr val="E8B84B"/>
                </a:solidFill>
                <a:latin typeface="Calibri" pitchFamily="34" charset="0"/>
                <a:ea typeface="Calibri" pitchFamily="34" charset="-122"/>
                <a:cs typeface="Calibri" pitchFamily="34" charset="-120"/>
              </a:rPr>
              <a:t>LOWEST POINT</a:t>
            </a:r>
            <a:endParaRPr lang="en-US" sz="1100" dirty="0"/>
          </a:p>
        </p:txBody>
      </p:sp>
      <p:sp>
        <p:nvSpPr>
          <p:cNvPr id="8" name="Text 5"/>
          <p:cNvSpPr/>
          <p:nvPr/>
        </p:nvSpPr>
        <p:spPr>
          <a:xfrm>
            <a:off x="8046720" y="2020824"/>
            <a:ext cx="3383280" cy="731520"/>
          </a:xfrm>
          <a:prstGeom prst="rect">
            <a:avLst/>
          </a:prstGeom>
          <a:noFill/>
          <a:ln/>
        </p:spPr>
        <p:txBody>
          <a:bodyPr wrap="square" rtlCol="0" anchor="ctr"/>
          <a:lstStyle/>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February — a steep drop from January's 161K.</a:t>
            </a:r>
            <a:endParaRPr lang="en-US" sz="1250" dirty="0"/>
          </a:p>
        </p:txBody>
      </p:sp>
      <p:sp>
        <p:nvSpPr>
          <p:cNvPr id="9" name="Shape 6"/>
          <p:cNvSpPr/>
          <p:nvPr/>
        </p:nvSpPr>
        <p:spPr>
          <a:xfrm>
            <a:off x="7818120" y="3017520"/>
            <a:ext cx="3840480" cy="1234440"/>
          </a:xfrm>
          <a:prstGeom prst="roundRect">
            <a:avLst>
              <a:gd name="adj" fmla="val 5185"/>
            </a:avLst>
          </a:prstGeom>
          <a:solidFill>
            <a:srgbClr val="1E2761"/>
          </a:solidFill>
          <a:ln/>
        </p:spPr>
      </p:sp>
      <p:sp>
        <p:nvSpPr>
          <p:cNvPr id="10" name="Text 7"/>
          <p:cNvSpPr/>
          <p:nvPr/>
        </p:nvSpPr>
        <p:spPr>
          <a:xfrm>
            <a:off x="8046720" y="3145536"/>
            <a:ext cx="3383280" cy="274320"/>
          </a:xfrm>
          <a:prstGeom prst="rect">
            <a:avLst/>
          </a:prstGeom>
          <a:noFill/>
          <a:ln/>
        </p:spPr>
        <p:txBody>
          <a:bodyPr wrap="square" rtlCol="0" anchor="ctr"/>
          <a:lstStyle/>
          <a:p>
            <a:pPr marL="0" indent="0">
              <a:buNone/>
            </a:pPr>
            <a:r>
              <a:rPr lang="en-US" sz="1100" b="1" kern="0" spc="100" dirty="0">
                <a:solidFill>
                  <a:srgbClr val="E8B84B"/>
                </a:solidFill>
                <a:latin typeface="Calibri" pitchFamily="34" charset="0"/>
                <a:ea typeface="Calibri" pitchFamily="34" charset="-122"/>
                <a:cs typeface="Calibri" pitchFamily="34" charset="-120"/>
              </a:rPr>
              <a:t>MID-YEAR DIP</a:t>
            </a:r>
            <a:endParaRPr lang="en-US" sz="1100" dirty="0"/>
          </a:p>
        </p:txBody>
      </p:sp>
      <p:sp>
        <p:nvSpPr>
          <p:cNvPr id="11" name="Text 8"/>
          <p:cNvSpPr/>
          <p:nvPr/>
        </p:nvSpPr>
        <p:spPr>
          <a:xfrm>
            <a:off x="8046720" y="3438144"/>
            <a:ext cx="3383280" cy="731520"/>
          </a:xfrm>
          <a:prstGeom prst="rect">
            <a:avLst/>
          </a:prstGeom>
          <a:noFill/>
          <a:ln/>
        </p:spPr>
        <p:txBody>
          <a:bodyPr wrap="square" rtlCol="0" anchor="ctr"/>
          <a:lstStyle/>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Sales soften again in June-July before recovering.</a:t>
            </a:r>
            <a:endParaRPr lang="en-US" sz="1250" dirty="0"/>
          </a:p>
        </p:txBody>
      </p:sp>
      <p:sp>
        <p:nvSpPr>
          <p:cNvPr id="12" name="Shape 9"/>
          <p:cNvSpPr/>
          <p:nvPr/>
        </p:nvSpPr>
        <p:spPr>
          <a:xfrm>
            <a:off x="7818120" y="4434840"/>
            <a:ext cx="3840480" cy="1234440"/>
          </a:xfrm>
          <a:prstGeom prst="roundRect">
            <a:avLst>
              <a:gd name="adj" fmla="val 5185"/>
            </a:avLst>
          </a:prstGeom>
          <a:solidFill>
            <a:srgbClr val="1E2761"/>
          </a:solidFill>
          <a:ln/>
        </p:spPr>
      </p:sp>
      <p:sp>
        <p:nvSpPr>
          <p:cNvPr id="13" name="Text 10"/>
          <p:cNvSpPr/>
          <p:nvPr/>
        </p:nvSpPr>
        <p:spPr>
          <a:xfrm>
            <a:off x="8046720" y="4562856"/>
            <a:ext cx="3383280" cy="274320"/>
          </a:xfrm>
          <a:prstGeom prst="rect">
            <a:avLst/>
          </a:prstGeom>
          <a:noFill/>
          <a:ln/>
        </p:spPr>
        <p:txBody>
          <a:bodyPr wrap="square" rtlCol="0" anchor="ctr"/>
          <a:lstStyle/>
          <a:p>
            <a:pPr marL="0" indent="0">
              <a:buNone/>
            </a:pPr>
            <a:r>
              <a:rPr lang="en-US" sz="1100" b="1" kern="0" spc="100" dirty="0">
                <a:solidFill>
                  <a:srgbClr val="E8B84B"/>
                </a:solidFill>
                <a:latin typeface="Calibri" pitchFamily="34" charset="0"/>
                <a:ea typeface="Calibri" pitchFamily="34" charset="-122"/>
                <a:cs typeface="Calibri" pitchFamily="34" charset="-120"/>
              </a:rPr>
              <a:t>STRONGEST CLOSE</a:t>
            </a:r>
            <a:endParaRPr lang="en-US" sz="1100" dirty="0"/>
          </a:p>
        </p:txBody>
      </p:sp>
      <p:sp>
        <p:nvSpPr>
          <p:cNvPr id="14" name="Text 11"/>
          <p:cNvSpPr/>
          <p:nvPr/>
        </p:nvSpPr>
        <p:spPr>
          <a:xfrm>
            <a:off x="8046720" y="4855464"/>
            <a:ext cx="3383280" cy="731520"/>
          </a:xfrm>
          <a:prstGeom prst="rect">
            <a:avLst/>
          </a:prstGeom>
          <a:noFill/>
          <a:ln/>
        </p:spPr>
        <p:txBody>
          <a:bodyPr wrap="square" rtlCol="0" anchor="ctr"/>
          <a:lstStyle/>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December hits the year's high at ~201K, capping a steady Aug-Dec climb.</a:t>
            </a:r>
            <a:endParaRPr lang="en-US" sz="1250" dirty="0"/>
          </a:p>
        </p:txBody>
      </p:sp>
      <p:sp>
        <p:nvSpPr>
          <p:cNvPr id="15" name="Text 12"/>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9AA3B5"/>
                </a:solidFill>
                <a:latin typeface="Calibri" pitchFamily="34" charset="0"/>
                <a:ea typeface="Calibri" pitchFamily="34" charset="-122"/>
                <a:cs typeface="Calibri" pitchFamily="34" charset="-120"/>
              </a:rPr>
              <a:t>Section 3 · Key Findings</a:t>
            </a:r>
            <a:endParaRPr lang="en-US" sz="1000" dirty="0"/>
          </a:p>
        </p:txBody>
      </p:sp>
      <p:sp>
        <p:nvSpPr>
          <p:cNvPr id="16" name="Text 13"/>
          <p:cNvSpPr/>
          <p:nvPr/>
        </p:nvSpPr>
        <p:spPr>
          <a:xfrm>
            <a:off x="7589520" y="6537960"/>
            <a:ext cx="4114800" cy="274320"/>
          </a:xfrm>
          <a:prstGeom prst="rect">
            <a:avLst/>
          </a:prstGeom>
          <a:noFill/>
          <a:ln/>
        </p:spPr>
        <p:txBody>
          <a:bodyPr wrap="square" rtlCol="0" anchor="ctr"/>
          <a:lstStyle/>
          <a:p>
            <a:pPr marL="0" indent="0" algn="r">
              <a:buNone/>
            </a:pPr>
            <a:r>
              <a:rPr lang="en-US" sz="1000" dirty="0">
                <a:solidFill>
                  <a:srgbClr val="9AA3B5"/>
                </a:solidFill>
                <a:latin typeface="Calibri" pitchFamily="34" charset="0"/>
                <a:ea typeface="Calibri" pitchFamily="34" charset="-122"/>
                <a:cs typeface="Calibri" pitchFamily="34" charset="-120"/>
              </a:rPr>
              <a:t>NeoMart Retail Performance Analysis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KEY FINDING · PROFIT TREND</a:t>
            </a:r>
            <a:endParaRPr lang="en-US" sz="1200" dirty="0"/>
          </a:p>
        </p:txBody>
      </p:sp>
      <p:sp>
        <p:nvSpPr>
          <p:cNvPr id="3" name="Text 1"/>
          <p:cNvSpPr/>
          <p:nvPr/>
        </p:nvSpPr>
        <p:spPr>
          <a:xfrm>
            <a:off x="548640" y="658368"/>
            <a:ext cx="11155680" cy="640080"/>
          </a:xfrm>
          <a:prstGeom prst="rect">
            <a:avLst/>
          </a:prstGeom>
          <a:noFill/>
          <a:ln/>
        </p:spPr>
        <p:txBody>
          <a:bodyPr wrap="square" rtlCol="0" anchor="ctr"/>
          <a:lstStyle/>
          <a:p>
            <a:pPr marL="0" indent="0">
              <a:buNone/>
            </a:pPr>
            <a:r>
              <a:rPr lang="en-US" sz="2200" b="1" dirty="0">
                <a:solidFill>
                  <a:srgbClr val="141B4D"/>
                </a:solidFill>
                <a:latin typeface="Cambria" pitchFamily="34" charset="0"/>
                <a:ea typeface="Cambria" pitchFamily="34" charset="-122"/>
                <a:cs typeface="Cambria" pitchFamily="34" charset="-120"/>
              </a:rPr>
              <a:t>Profit follows a similar arc, peaking in September</a:t>
            </a:r>
            <a:endParaRPr lang="en-US" sz="2200" dirty="0"/>
          </a:p>
        </p:txBody>
      </p:sp>
      <p:sp>
        <p:nvSpPr>
          <p:cNvPr id="4" name="Shape 2"/>
          <p:cNvSpPr/>
          <p:nvPr/>
        </p:nvSpPr>
        <p:spPr>
          <a:xfrm>
            <a:off x="548640" y="1417320"/>
            <a:ext cx="7040880" cy="4754880"/>
          </a:xfrm>
          <a:prstGeom prst="roundRect">
            <a:avLst>
              <a:gd name="adj" fmla="val 1154"/>
            </a:avLst>
          </a:prstGeom>
          <a:solidFill>
            <a:srgbClr val="F5F7FC"/>
          </a:solidFill>
          <a:ln w="12700">
            <a:solidFill>
              <a:srgbClr val="E3E7F2"/>
            </a:solidFill>
            <a:prstDash val="solid"/>
          </a:ln>
        </p:spPr>
      </p:sp>
      <p:pic>
        <p:nvPicPr>
          <p:cNvPr id="5" name="Image 0" descr="/home/claude/assets/profit_trend.png"/>
          <p:cNvPicPr>
            <a:picLocks noChangeAspect="1"/>
          </p:cNvPicPr>
          <p:nvPr/>
        </p:nvPicPr>
        <p:blipFill>
          <a:blip r:embed="rId3"/>
          <a:stretch>
            <a:fillRect/>
          </a:stretch>
        </p:blipFill>
        <p:spPr>
          <a:xfrm>
            <a:off x="731520" y="1600200"/>
            <a:ext cx="6675120" cy="4389120"/>
          </a:xfrm>
          <a:prstGeom prst="rect">
            <a:avLst/>
          </a:prstGeom>
        </p:spPr>
      </p:pic>
      <p:sp>
        <p:nvSpPr>
          <p:cNvPr id="6" name="Shape 3"/>
          <p:cNvSpPr/>
          <p:nvPr/>
        </p:nvSpPr>
        <p:spPr>
          <a:xfrm>
            <a:off x="7818120" y="1600200"/>
            <a:ext cx="3840480" cy="1234440"/>
          </a:xfrm>
          <a:prstGeom prst="roundRect">
            <a:avLst>
              <a:gd name="adj" fmla="val 5185"/>
            </a:avLst>
          </a:prstGeom>
          <a:solidFill>
            <a:srgbClr val="1E2761"/>
          </a:solidFill>
          <a:ln/>
        </p:spPr>
      </p:sp>
      <p:sp>
        <p:nvSpPr>
          <p:cNvPr id="7" name="Text 4"/>
          <p:cNvSpPr/>
          <p:nvPr/>
        </p:nvSpPr>
        <p:spPr>
          <a:xfrm>
            <a:off x="8046720" y="1728216"/>
            <a:ext cx="3383280" cy="274320"/>
          </a:xfrm>
          <a:prstGeom prst="rect">
            <a:avLst/>
          </a:prstGeom>
          <a:noFill/>
          <a:ln/>
        </p:spPr>
        <p:txBody>
          <a:bodyPr wrap="square" rtlCol="0" anchor="ctr"/>
          <a:lstStyle/>
          <a:p>
            <a:pPr marL="0" indent="0">
              <a:buNone/>
            </a:pPr>
            <a:r>
              <a:rPr lang="en-US" sz="1100" b="1" kern="0" spc="100" dirty="0">
                <a:solidFill>
                  <a:srgbClr val="E8B84B"/>
                </a:solidFill>
                <a:latin typeface="Calibri" pitchFamily="34" charset="0"/>
                <a:ea typeface="Calibri" pitchFamily="34" charset="-122"/>
                <a:cs typeface="Calibri" pitchFamily="34" charset="-120"/>
              </a:rPr>
              <a:t>LOWEST POINT</a:t>
            </a:r>
            <a:endParaRPr lang="en-US" sz="1100" dirty="0"/>
          </a:p>
        </p:txBody>
      </p:sp>
      <p:sp>
        <p:nvSpPr>
          <p:cNvPr id="8" name="Text 5"/>
          <p:cNvSpPr/>
          <p:nvPr/>
        </p:nvSpPr>
        <p:spPr>
          <a:xfrm>
            <a:off x="8046720" y="2020824"/>
            <a:ext cx="3383280" cy="731520"/>
          </a:xfrm>
          <a:prstGeom prst="rect">
            <a:avLst/>
          </a:prstGeom>
          <a:noFill/>
          <a:ln/>
        </p:spPr>
        <p:txBody>
          <a:bodyPr wrap="square" rtlCol="0" anchor="ctr"/>
          <a:lstStyle/>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February profit bottoms out near 13.2K, mirroring the sales dip.</a:t>
            </a:r>
            <a:endParaRPr lang="en-US" sz="1250" dirty="0"/>
          </a:p>
        </p:txBody>
      </p:sp>
      <p:sp>
        <p:nvSpPr>
          <p:cNvPr id="9" name="Shape 6"/>
          <p:cNvSpPr/>
          <p:nvPr/>
        </p:nvSpPr>
        <p:spPr>
          <a:xfrm>
            <a:off x="7818120" y="3017520"/>
            <a:ext cx="3840480" cy="1234440"/>
          </a:xfrm>
          <a:prstGeom prst="roundRect">
            <a:avLst>
              <a:gd name="adj" fmla="val 5185"/>
            </a:avLst>
          </a:prstGeom>
          <a:solidFill>
            <a:srgbClr val="1E2761"/>
          </a:solidFill>
          <a:ln/>
        </p:spPr>
      </p:sp>
      <p:sp>
        <p:nvSpPr>
          <p:cNvPr id="10" name="Text 7"/>
          <p:cNvSpPr/>
          <p:nvPr/>
        </p:nvSpPr>
        <p:spPr>
          <a:xfrm>
            <a:off x="8046720" y="3145536"/>
            <a:ext cx="3383280" cy="274320"/>
          </a:xfrm>
          <a:prstGeom prst="rect">
            <a:avLst/>
          </a:prstGeom>
          <a:noFill/>
          <a:ln/>
        </p:spPr>
        <p:txBody>
          <a:bodyPr wrap="square" rtlCol="0" anchor="ctr"/>
          <a:lstStyle/>
          <a:p>
            <a:pPr marL="0" indent="0">
              <a:buNone/>
            </a:pPr>
            <a:r>
              <a:rPr lang="en-US" sz="1100" b="1" kern="0" spc="100" dirty="0">
                <a:solidFill>
                  <a:srgbClr val="E8B84B"/>
                </a:solidFill>
                <a:latin typeface="Calibri" pitchFamily="34" charset="0"/>
                <a:ea typeface="Calibri" pitchFamily="34" charset="-122"/>
                <a:cs typeface="Calibri" pitchFamily="34" charset="-120"/>
              </a:rPr>
              <a:t>SHARP REBOUND</a:t>
            </a:r>
            <a:endParaRPr lang="en-US" sz="1100" dirty="0"/>
          </a:p>
        </p:txBody>
      </p:sp>
      <p:sp>
        <p:nvSpPr>
          <p:cNvPr id="11" name="Text 8"/>
          <p:cNvSpPr/>
          <p:nvPr/>
        </p:nvSpPr>
        <p:spPr>
          <a:xfrm>
            <a:off x="8046720" y="3438144"/>
            <a:ext cx="3383280" cy="731520"/>
          </a:xfrm>
          <a:prstGeom prst="rect">
            <a:avLst/>
          </a:prstGeom>
          <a:noFill/>
          <a:ln/>
        </p:spPr>
        <p:txBody>
          <a:bodyPr wrap="square" rtlCol="0" anchor="ctr"/>
          <a:lstStyle/>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April jumps to ~22.9K before a mid-year cooldown in May-June.</a:t>
            </a:r>
            <a:endParaRPr lang="en-US" sz="1250" dirty="0"/>
          </a:p>
        </p:txBody>
      </p:sp>
      <p:sp>
        <p:nvSpPr>
          <p:cNvPr id="12" name="Shape 9"/>
          <p:cNvSpPr/>
          <p:nvPr/>
        </p:nvSpPr>
        <p:spPr>
          <a:xfrm>
            <a:off x="7818120" y="4434840"/>
            <a:ext cx="3840480" cy="1234440"/>
          </a:xfrm>
          <a:prstGeom prst="roundRect">
            <a:avLst>
              <a:gd name="adj" fmla="val 5185"/>
            </a:avLst>
          </a:prstGeom>
          <a:solidFill>
            <a:srgbClr val="1E2761"/>
          </a:solidFill>
          <a:ln/>
        </p:spPr>
      </p:sp>
      <p:sp>
        <p:nvSpPr>
          <p:cNvPr id="13" name="Text 10"/>
          <p:cNvSpPr/>
          <p:nvPr/>
        </p:nvSpPr>
        <p:spPr>
          <a:xfrm>
            <a:off x="8046720" y="4562856"/>
            <a:ext cx="3383280" cy="274320"/>
          </a:xfrm>
          <a:prstGeom prst="rect">
            <a:avLst/>
          </a:prstGeom>
          <a:noFill/>
          <a:ln/>
        </p:spPr>
        <p:txBody>
          <a:bodyPr wrap="square" rtlCol="0" anchor="ctr"/>
          <a:lstStyle/>
          <a:p>
            <a:pPr marL="0" indent="0">
              <a:buNone/>
            </a:pPr>
            <a:r>
              <a:rPr lang="en-US" sz="1100" b="1" kern="0" spc="100" dirty="0">
                <a:solidFill>
                  <a:srgbClr val="E8B84B"/>
                </a:solidFill>
                <a:latin typeface="Calibri" pitchFamily="34" charset="0"/>
                <a:ea typeface="Calibri" pitchFamily="34" charset="-122"/>
                <a:cs typeface="Calibri" pitchFamily="34" charset="-120"/>
              </a:rPr>
              <a:t>BEST QUARTER</a:t>
            </a:r>
            <a:endParaRPr lang="en-US" sz="1100" dirty="0"/>
          </a:p>
        </p:txBody>
      </p:sp>
      <p:sp>
        <p:nvSpPr>
          <p:cNvPr id="14" name="Text 11"/>
          <p:cNvSpPr/>
          <p:nvPr/>
        </p:nvSpPr>
        <p:spPr>
          <a:xfrm>
            <a:off x="8046720" y="4855464"/>
            <a:ext cx="3383280" cy="731520"/>
          </a:xfrm>
          <a:prstGeom prst="rect">
            <a:avLst/>
          </a:prstGeom>
          <a:noFill/>
          <a:ln/>
        </p:spPr>
        <p:txBody>
          <a:bodyPr wrap="square" rtlCol="0" anchor="ctr"/>
          <a:lstStyle/>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September peaks at ~26.3K; Q4 holds steady around 24.5-25K.</a:t>
            </a:r>
            <a:endParaRPr lang="en-US" sz="1250" dirty="0"/>
          </a:p>
        </p:txBody>
      </p:sp>
      <p:sp>
        <p:nvSpPr>
          <p:cNvPr id="15" name="Text 12"/>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9AA3B5"/>
                </a:solidFill>
                <a:latin typeface="Calibri" pitchFamily="34" charset="0"/>
                <a:ea typeface="Calibri" pitchFamily="34" charset="-122"/>
                <a:cs typeface="Calibri" pitchFamily="34" charset="-120"/>
              </a:rPr>
              <a:t>Section 3 · Key Findings</a:t>
            </a:r>
            <a:endParaRPr lang="en-US" sz="1000" dirty="0"/>
          </a:p>
        </p:txBody>
      </p:sp>
      <p:sp>
        <p:nvSpPr>
          <p:cNvPr id="16" name="Text 13"/>
          <p:cNvSpPr/>
          <p:nvPr/>
        </p:nvSpPr>
        <p:spPr>
          <a:xfrm>
            <a:off x="7589520" y="6537960"/>
            <a:ext cx="4114800" cy="274320"/>
          </a:xfrm>
          <a:prstGeom prst="rect">
            <a:avLst/>
          </a:prstGeom>
          <a:noFill/>
          <a:ln/>
        </p:spPr>
        <p:txBody>
          <a:bodyPr wrap="square" rtlCol="0" anchor="ctr"/>
          <a:lstStyle/>
          <a:p>
            <a:pPr marL="0" indent="0" algn="r">
              <a:buNone/>
            </a:pPr>
            <a:r>
              <a:rPr lang="en-US" sz="1000" dirty="0">
                <a:solidFill>
                  <a:srgbClr val="9AA3B5"/>
                </a:solidFill>
                <a:latin typeface="Calibri" pitchFamily="34" charset="0"/>
                <a:ea typeface="Calibri" pitchFamily="34" charset="-122"/>
                <a:cs typeface="Calibri" pitchFamily="34" charset="-120"/>
              </a:rPr>
              <a:t>NeoMart Retail Performance Analysis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KEY FINDING · REGIONAL PERFORMANCE</a:t>
            </a:r>
            <a:endParaRPr lang="en-US" sz="1200" dirty="0"/>
          </a:p>
        </p:txBody>
      </p:sp>
      <p:sp>
        <p:nvSpPr>
          <p:cNvPr id="3" name="Text 1"/>
          <p:cNvSpPr/>
          <p:nvPr/>
        </p:nvSpPr>
        <p:spPr>
          <a:xfrm>
            <a:off x="548640" y="658368"/>
            <a:ext cx="11155680" cy="640080"/>
          </a:xfrm>
          <a:prstGeom prst="rect">
            <a:avLst/>
          </a:prstGeom>
          <a:noFill/>
          <a:ln/>
        </p:spPr>
        <p:txBody>
          <a:bodyPr wrap="square" rtlCol="0" anchor="ctr"/>
          <a:lstStyle/>
          <a:p>
            <a:pPr marL="0" indent="0">
              <a:buNone/>
            </a:pPr>
            <a:r>
              <a:rPr lang="en-US" sz="2200" b="1" dirty="0">
                <a:solidFill>
                  <a:srgbClr val="141B4D"/>
                </a:solidFill>
                <a:latin typeface="Cambria" pitchFamily="34" charset="0"/>
                <a:ea typeface="Cambria" pitchFamily="34" charset="-122"/>
                <a:cs typeface="Cambria" pitchFamily="34" charset="-120"/>
              </a:rPr>
              <a:t>South drives sales — but not evenly across the country</a:t>
            </a:r>
            <a:endParaRPr lang="en-US" sz="2200" dirty="0"/>
          </a:p>
        </p:txBody>
      </p:sp>
      <p:sp>
        <p:nvSpPr>
          <p:cNvPr id="4" name="Shape 2"/>
          <p:cNvSpPr/>
          <p:nvPr/>
        </p:nvSpPr>
        <p:spPr>
          <a:xfrm>
            <a:off x="548640" y="1417320"/>
            <a:ext cx="7040880" cy="4754880"/>
          </a:xfrm>
          <a:prstGeom prst="roundRect">
            <a:avLst>
              <a:gd name="adj" fmla="val 1154"/>
            </a:avLst>
          </a:prstGeom>
          <a:solidFill>
            <a:srgbClr val="F5F7FC"/>
          </a:solidFill>
          <a:ln w="12700">
            <a:solidFill>
              <a:srgbClr val="E3E7F2"/>
            </a:solidFill>
            <a:prstDash val="solid"/>
          </a:ln>
        </p:spPr>
      </p:sp>
      <p:pic>
        <p:nvPicPr>
          <p:cNvPr id="5" name="Image 0" descr="/home/claude/assets/sales_by_region.png"/>
          <p:cNvPicPr>
            <a:picLocks noChangeAspect="1"/>
          </p:cNvPicPr>
          <p:nvPr/>
        </p:nvPicPr>
        <p:blipFill>
          <a:blip r:embed="rId3"/>
          <a:stretch>
            <a:fillRect/>
          </a:stretch>
        </p:blipFill>
        <p:spPr>
          <a:xfrm>
            <a:off x="731520" y="1600200"/>
            <a:ext cx="6675120" cy="4389120"/>
          </a:xfrm>
          <a:prstGeom prst="rect">
            <a:avLst/>
          </a:prstGeom>
        </p:spPr>
      </p:pic>
      <p:sp>
        <p:nvSpPr>
          <p:cNvPr id="6" name="Shape 3"/>
          <p:cNvSpPr/>
          <p:nvPr/>
        </p:nvSpPr>
        <p:spPr>
          <a:xfrm>
            <a:off x="7818120" y="1600200"/>
            <a:ext cx="3840480" cy="896112"/>
          </a:xfrm>
          <a:prstGeom prst="roundRect">
            <a:avLst>
              <a:gd name="adj" fmla="val 6122"/>
            </a:avLst>
          </a:prstGeom>
          <a:solidFill>
            <a:srgbClr val="FFFFFF"/>
          </a:solidFill>
          <a:ln w="12700">
            <a:solidFill>
              <a:srgbClr val="E3E7F2"/>
            </a:solidFill>
            <a:prstDash val="solid"/>
          </a:ln>
        </p:spPr>
      </p:sp>
      <p:sp>
        <p:nvSpPr>
          <p:cNvPr id="7" name="Text 4"/>
          <p:cNvSpPr/>
          <p:nvPr/>
        </p:nvSpPr>
        <p:spPr>
          <a:xfrm>
            <a:off x="8046720" y="1709928"/>
            <a:ext cx="2011680" cy="365760"/>
          </a:xfrm>
          <a:prstGeom prst="rect">
            <a:avLst/>
          </a:prstGeom>
          <a:noFill/>
          <a:ln/>
        </p:spPr>
        <p:txBody>
          <a:bodyPr wrap="square" rtlCol="0" anchor="ctr"/>
          <a:lstStyle/>
          <a:p>
            <a:pPr marL="0" indent="0">
              <a:buNone/>
            </a:pPr>
            <a:r>
              <a:rPr lang="en-US" sz="1500" b="1" dirty="0">
                <a:solidFill>
                  <a:srgbClr val="141B4D"/>
                </a:solidFill>
                <a:latin typeface="Calibri" pitchFamily="34" charset="0"/>
                <a:ea typeface="Calibri" pitchFamily="34" charset="-122"/>
                <a:cs typeface="Calibri" pitchFamily="34" charset="-120"/>
              </a:rPr>
              <a:t>South</a:t>
            </a:r>
            <a:endParaRPr lang="en-US" sz="1500" dirty="0"/>
          </a:p>
        </p:txBody>
      </p:sp>
      <p:sp>
        <p:nvSpPr>
          <p:cNvPr id="8" name="Text 5"/>
          <p:cNvSpPr/>
          <p:nvPr/>
        </p:nvSpPr>
        <p:spPr>
          <a:xfrm>
            <a:off x="8046720" y="2039112"/>
            <a:ext cx="2011680" cy="365760"/>
          </a:xfrm>
          <a:prstGeom prst="rect">
            <a:avLst/>
          </a:prstGeom>
          <a:noFill/>
          <a:ln/>
        </p:spPr>
        <p:txBody>
          <a:bodyPr wrap="square" rtlCol="0" anchor="ctr"/>
          <a:lstStyle/>
          <a:p>
            <a:pPr marL="0" indent="0">
              <a:buNone/>
            </a:pPr>
            <a:r>
              <a:rPr lang="en-US" sz="1700" b="1" dirty="0">
                <a:solidFill>
                  <a:srgbClr val="2FA875"/>
                </a:solidFill>
                <a:latin typeface="Cambria" pitchFamily="34" charset="0"/>
                <a:ea typeface="Cambria" pitchFamily="34" charset="-122"/>
                <a:cs typeface="Cambria" pitchFamily="34" charset="-120"/>
              </a:rPr>
              <a:t>~735K</a:t>
            </a:r>
            <a:endParaRPr lang="en-US" sz="1700" dirty="0"/>
          </a:p>
        </p:txBody>
      </p:sp>
      <p:sp>
        <p:nvSpPr>
          <p:cNvPr id="9" name="Shape 6"/>
          <p:cNvSpPr/>
          <p:nvPr/>
        </p:nvSpPr>
        <p:spPr>
          <a:xfrm>
            <a:off x="10561320" y="1874520"/>
            <a:ext cx="822960" cy="347472"/>
          </a:xfrm>
          <a:prstGeom prst="roundRect">
            <a:avLst>
              <a:gd name="adj" fmla="val 50000"/>
            </a:avLst>
          </a:prstGeom>
          <a:solidFill>
            <a:srgbClr val="2FA875"/>
          </a:solidFill>
          <a:ln/>
        </p:spPr>
      </p:sp>
      <p:sp>
        <p:nvSpPr>
          <p:cNvPr id="10" name="Text 7"/>
          <p:cNvSpPr/>
          <p:nvPr/>
        </p:nvSpPr>
        <p:spPr>
          <a:xfrm>
            <a:off x="10561320" y="1874520"/>
            <a:ext cx="82296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Highest</a:t>
            </a:r>
            <a:endParaRPr lang="en-US" sz="1000" dirty="0"/>
          </a:p>
        </p:txBody>
      </p:sp>
      <p:sp>
        <p:nvSpPr>
          <p:cNvPr id="11" name="Shape 8"/>
          <p:cNvSpPr/>
          <p:nvPr/>
        </p:nvSpPr>
        <p:spPr>
          <a:xfrm>
            <a:off x="7818120" y="2642616"/>
            <a:ext cx="3840480" cy="896112"/>
          </a:xfrm>
          <a:prstGeom prst="roundRect">
            <a:avLst>
              <a:gd name="adj" fmla="val 6122"/>
            </a:avLst>
          </a:prstGeom>
          <a:solidFill>
            <a:srgbClr val="FFFFFF"/>
          </a:solidFill>
          <a:ln w="12700">
            <a:solidFill>
              <a:srgbClr val="E3E7F2"/>
            </a:solidFill>
            <a:prstDash val="solid"/>
          </a:ln>
        </p:spPr>
      </p:sp>
      <p:sp>
        <p:nvSpPr>
          <p:cNvPr id="12" name="Text 9"/>
          <p:cNvSpPr/>
          <p:nvPr/>
        </p:nvSpPr>
        <p:spPr>
          <a:xfrm>
            <a:off x="8046720" y="2752344"/>
            <a:ext cx="2011680" cy="365760"/>
          </a:xfrm>
          <a:prstGeom prst="rect">
            <a:avLst/>
          </a:prstGeom>
          <a:noFill/>
          <a:ln/>
        </p:spPr>
        <p:txBody>
          <a:bodyPr wrap="square" rtlCol="0" anchor="ctr"/>
          <a:lstStyle/>
          <a:p>
            <a:pPr marL="0" indent="0">
              <a:buNone/>
            </a:pPr>
            <a:r>
              <a:rPr lang="en-US" sz="1500" b="1" dirty="0">
                <a:solidFill>
                  <a:srgbClr val="141B4D"/>
                </a:solidFill>
                <a:latin typeface="Calibri" pitchFamily="34" charset="0"/>
                <a:ea typeface="Calibri" pitchFamily="34" charset="-122"/>
                <a:cs typeface="Calibri" pitchFamily="34" charset="-120"/>
              </a:rPr>
              <a:t>North</a:t>
            </a:r>
            <a:endParaRPr lang="en-US" sz="1500" dirty="0"/>
          </a:p>
        </p:txBody>
      </p:sp>
      <p:sp>
        <p:nvSpPr>
          <p:cNvPr id="13" name="Text 10"/>
          <p:cNvSpPr/>
          <p:nvPr/>
        </p:nvSpPr>
        <p:spPr>
          <a:xfrm>
            <a:off x="8046720" y="3081528"/>
            <a:ext cx="2011680" cy="365760"/>
          </a:xfrm>
          <a:prstGeom prst="rect">
            <a:avLst/>
          </a:prstGeom>
          <a:noFill/>
          <a:ln/>
        </p:spPr>
        <p:txBody>
          <a:bodyPr wrap="square" rtlCol="0" anchor="ctr"/>
          <a:lstStyle/>
          <a:p>
            <a:pPr marL="0" indent="0">
              <a:buNone/>
            </a:pPr>
            <a:r>
              <a:rPr lang="en-US" sz="1700" b="1" dirty="0">
                <a:solidFill>
                  <a:srgbClr val="6B7280"/>
                </a:solidFill>
                <a:latin typeface="Cambria" pitchFamily="34" charset="0"/>
                <a:ea typeface="Cambria" pitchFamily="34" charset="-122"/>
                <a:cs typeface="Cambria" pitchFamily="34" charset="-120"/>
              </a:rPr>
              <a:t>~457K</a:t>
            </a:r>
            <a:endParaRPr lang="en-US" sz="1700" dirty="0"/>
          </a:p>
        </p:txBody>
      </p:sp>
      <p:sp>
        <p:nvSpPr>
          <p:cNvPr id="14" name="Shape 11"/>
          <p:cNvSpPr/>
          <p:nvPr/>
        </p:nvSpPr>
        <p:spPr>
          <a:xfrm>
            <a:off x="7818120" y="3685032"/>
            <a:ext cx="3840480" cy="896112"/>
          </a:xfrm>
          <a:prstGeom prst="roundRect">
            <a:avLst>
              <a:gd name="adj" fmla="val 6122"/>
            </a:avLst>
          </a:prstGeom>
          <a:solidFill>
            <a:srgbClr val="FFFFFF"/>
          </a:solidFill>
          <a:ln w="12700">
            <a:solidFill>
              <a:srgbClr val="E3E7F2"/>
            </a:solidFill>
            <a:prstDash val="solid"/>
          </a:ln>
        </p:spPr>
      </p:sp>
      <p:sp>
        <p:nvSpPr>
          <p:cNvPr id="15" name="Text 12"/>
          <p:cNvSpPr/>
          <p:nvPr/>
        </p:nvSpPr>
        <p:spPr>
          <a:xfrm>
            <a:off x="8046720" y="3794760"/>
            <a:ext cx="2011680" cy="365760"/>
          </a:xfrm>
          <a:prstGeom prst="rect">
            <a:avLst/>
          </a:prstGeom>
          <a:noFill/>
          <a:ln/>
        </p:spPr>
        <p:txBody>
          <a:bodyPr wrap="square" rtlCol="0" anchor="ctr"/>
          <a:lstStyle/>
          <a:p>
            <a:pPr marL="0" indent="0">
              <a:buNone/>
            </a:pPr>
            <a:r>
              <a:rPr lang="en-US" sz="1500" b="1" dirty="0">
                <a:solidFill>
                  <a:srgbClr val="141B4D"/>
                </a:solidFill>
                <a:latin typeface="Calibri" pitchFamily="34" charset="0"/>
                <a:ea typeface="Calibri" pitchFamily="34" charset="-122"/>
                <a:cs typeface="Calibri" pitchFamily="34" charset="-120"/>
              </a:rPr>
              <a:t>West</a:t>
            </a:r>
            <a:endParaRPr lang="en-US" sz="1500" dirty="0"/>
          </a:p>
        </p:txBody>
      </p:sp>
      <p:sp>
        <p:nvSpPr>
          <p:cNvPr id="16" name="Text 13"/>
          <p:cNvSpPr/>
          <p:nvPr/>
        </p:nvSpPr>
        <p:spPr>
          <a:xfrm>
            <a:off x="8046720" y="4123944"/>
            <a:ext cx="2011680" cy="365760"/>
          </a:xfrm>
          <a:prstGeom prst="rect">
            <a:avLst/>
          </a:prstGeom>
          <a:noFill/>
          <a:ln/>
        </p:spPr>
        <p:txBody>
          <a:bodyPr wrap="square" rtlCol="0" anchor="ctr"/>
          <a:lstStyle/>
          <a:p>
            <a:pPr marL="0" indent="0">
              <a:buNone/>
            </a:pPr>
            <a:r>
              <a:rPr lang="en-US" sz="1700" b="1" dirty="0">
                <a:solidFill>
                  <a:srgbClr val="6B7280"/>
                </a:solidFill>
                <a:latin typeface="Cambria" pitchFamily="34" charset="0"/>
                <a:ea typeface="Cambria" pitchFamily="34" charset="-122"/>
                <a:cs typeface="Cambria" pitchFamily="34" charset="-120"/>
              </a:rPr>
              <a:t>~449K</a:t>
            </a:r>
            <a:endParaRPr lang="en-US" sz="1700" dirty="0"/>
          </a:p>
        </p:txBody>
      </p:sp>
      <p:sp>
        <p:nvSpPr>
          <p:cNvPr id="17" name="Shape 14"/>
          <p:cNvSpPr/>
          <p:nvPr/>
        </p:nvSpPr>
        <p:spPr>
          <a:xfrm>
            <a:off x="7818120" y="4727448"/>
            <a:ext cx="3840480" cy="896112"/>
          </a:xfrm>
          <a:prstGeom prst="roundRect">
            <a:avLst>
              <a:gd name="adj" fmla="val 6122"/>
            </a:avLst>
          </a:prstGeom>
          <a:solidFill>
            <a:srgbClr val="FFFFFF"/>
          </a:solidFill>
          <a:ln w="12700">
            <a:solidFill>
              <a:srgbClr val="E3E7F2"/>
            </a:solidFill>
            <a:prstDash val="solid"/>
          </a:ln>
        </p:spPr>
      </p:sp>
      <p:sp>
        <p:nvSpPr>
          <p:cNvPr id="18" name="Text 15"/>
          <p:cNvSpPr/>
          <p:nvPr/>
        </p:nvSpPr>
        <p:spPr>
          <a:xfrm>
            <a:off x="8046720" y="4837176"/>
            <a:ext cx="2011680" cy="365760"/>
          </a:xfrm>
          <a:prstGeom prst="rect">
            <a:avLst/>
          </a:prstGeom>
          <a:noFill/>
          <a:ln/>
        </p:spPr>
        <p:txBody>
          <a:bodyPr wrap="square" rtlCol="0" anchor="ctr"/>
          <a:lstStyle/>
          <a:p>
            <a:pPr marL="0" indent="0">
              <a:buNone/>
            </a:pPr>
            <a:r>
              <a:rPr lang="en-US" sz="1500" b="1" dirty="0">
                <a:solidFill>
                  <a:srgbClr val="141B4D"/>
                </a:solidFill>
                <a:latin typeface="Calibri" pitchFamily="34" charset="0"/>
                <a:ea typeface="Calibri" pitchFamily="34" charset="-122"/>
                <a:cs typeface="Calibri" pitchFamily="34" charset="-120"/>
              </a:rPr>
              <a:t>East</a:t>
            </a:r>
            <a:endParaRPr lang="en-US" sz="1500" dirty="0"/>
          </a:p>
        </p:txBody>
      </p:sp>
      <p:sp>
        <p:nvSpPr>
          <p:cNvPr id="19" name="Text 16"/>
          <p:cNvSpPr/>
          <p:nvPr/>
        </p:nvSpPr>
        <p:spPr>
          <a:xfrm>
            <a:off x="8046720" y="5166360"/>
            <a:ext cx="2011680" cy="365760"/>
          </a:xfrm>
          <a:prstGeom prst="rect">
            <a:avLst/>
          </a:prstGeom>
          <a:noFill/>
          <a:ln/>
        </p:spPr>
        <p:txBody>
          <a:bodyPr wrap="square" rtlCol="0" anchor="ctr"/>
          <a:lstStyle/>
          <a:p>
            <a:pPr marL="0" indent="0">
              <a:buNone/>
            </a:pPr>
            <a:r>
              <a:rPr lang="en-US" sz="1700" b="1" dirty="0">
                <a:solidFill>
                  <a:srgbClr val="F2545B"/>
                </a:solidFill>
                <a:latin typeface="Cambria" pitchFamily="34" charset="0"/>
                <a:ea typeface="Cambria" pitchFamily="34" charset="-122"/>
                <a:cs typeface="Cambria" pitchFamily="34" charset="-120"/>
              </a:rPr>
              <a:t>~406K</a:t>
            </a:r>
            <a:endParaRPr lang="en-US" sz="1700" dirty="0"/>
          </a:p>
        </p:txBody>
      </p:sp>
      <p:sp>
        <p:nvSpPr>
          <p:cNvPr id="20" name="Shape 17"/>
          <p:cNvSpPr/>
          <p:nvPr/>
        </p:nvSpPr>
        <p:spPr>
          <a:xfrm>
            <a:off x="10561320" y="5001768"/>
            <a:ext cx="822960" cy="347472"/>
          </a:xfrm>
          <a:prstGeom prst="roundRect">
            <a:avLst>
              <a:gd name="adj" fmla="val 50000"/>
            </a:avLst>
          </a:prstGeom>
          <a:solidFill>
            <a:srgbClr val="F2545B"/>
          </a:solidFill>
          <a:ln/>
        </p:spPr>
      </p:sp>
      <p:sp>
        <p:nvSpPr>
          <p:cNvPr id="21" name="Text 18"/>
          <p:cNvSpPr/>
          <p:nvPr/>
        </p:nvSpPr>
        <p:spPr>
          <a:xfrm>
            <a:off x="10561320" y="5001768"/>
            <a:ext cx="82296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Lowest</a:t>
            </a:r>
            <a:endParaRPr lang="en-US" sz="1000" dirty="0"/>
          </a:p>
        </p:txBody>
      </p:sp>
      <p:sp>
        <p:nvSpPr>
          <p:cNvPr id="22" name="Text 19"/>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9AA3B5"/>
                </a:solidFill>
                <a:latin typeface="Calibri" pitchFamily="34" charset="0"/>
                <a:ea typeface="Calibri" pitchFamily="34" charset="-122"/>
                <a:cs typeface="Calibri" pitchFamily="34" charset="-120"/>
              </a:rPr>
              <a:t>Section 3 · Key Findings</a:t>
            </a:r>
            <a:endParaRPr lang="en-US" sz="1000" dirty="0"/>
          </a:p>
        </p:txBody>
      </p:sp>
      <p:sp>
        <p:nvSpPr>
          <p:cNvPr id="23" name="Text 20"/>
          <p:cNvSpPr/>
          <p:nvPr/>
        </p:nvSpPr>
        <p:spPr>
          <a:xfrm>
            <a:off x="7589520" y="6537960"/>
            <a:ext cx="4114800" cy="274320"/>
          </a:xfrm>
          <a:prstGeom prst="rect">
            <a:avLst/>
          </a:prstGeom>
          <a:noFill/>
          <a:ln/>
        </p:spPr>
        <p:txBody>
          <a:bodyPr wrap="square" rtlCol="0" anchor="ctr"/>
          <a:lstStyle/>
          <a:p>
            <a:pPr marL="0" indent="0" algn="r">
              <a:buNone/>
            </a:pPr>
            <a:r>
              <a:rPr lang="en-US" sz="1000" dirty="0">
                <a:solidFill>
                  <a:srgbClr val="9AA3B5"/>
                </a:solidFill>
                <a:latin typeface="Calibri" pitchFamily="34" charset="0"/>
                <a:ea typeface="Calibri" pitchFamily="34" charset="-122"/>
                <a:cs typeface="Calibri" pitchFamily="34" charset="-120"/>
              </a:rPr>
              <a:t>NeoMart Retail Performance Analysis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KEY FINDING · DISCOUNT ANALYSIS</a:t>
            </a:r>
            <a:endParaRPr lang="en-US" sz="1200" dirty="0"/>
          </a:p>
        </p:txBody>
      </p:sp>
      <p:sp>
        <p:nvSpPr>
          <p:cNvPr id="3" name="Text 1"/>
          <p:cNvSpPr/>
          <p:nvPr/>
        </p:nvSpPr>
        <p:spPr>
          <a:xfrm>
            <a:off x="548640" y="658368"/>
            <a:ext cx="11155680" cy="640080"/>
          </a:xfrm>
          <a:prstGeom prst="rect">
            <a:avLst/>
          </a:prstGeom>
          <a:noFill/>
          <a:ln/>
        </p:spPr>
        <p:txBody>
          <a:bodyPr wrap="square" rtlCol="0" anchor="ctr"/>
          <a:lstStyle/>
          <a:p>
            <a:pPr marL="0" indent="0">
              <a:buNone/>
            </a:pPr>
            <a:r>
              <a:rPr lang="en-US" sz="2200" b="1" dirty="0">
                <a:solidFill>
                  <a:srgbClr val="141B4D"/>
                </a:solidFill>
                <a:latin typeface="Cambria" pitchFamily="34" charset="0"/>
                <a:ea typeface="Cambria" pitchFamily="34" charset="-122"/>
                <a:cs typeface="Cambria" pitchFamily="34" charset="-120"/>
              </a:rPr>
              <a:t>Bigger discounts, smaller profits</a:t>
            </a:r>
            <a:endParaRPr lang="en-US" sz="2200" dirty="0"/>
          </a:p>
        </p:txBody>
      </p:sp>
      <p:sp>
        <p:nvSpPr>
          <p:cNvPr id="4" name="Shape 2"/>
          <p:cNvSpPr/>
          <p:nvPr/>
        </p:nvSpPr>
        <p:spPr>
          <a:xfrm>
            <a:off x="548640" y="1417320"/>
            <a:ext cx="7040880" cy="4754880"/>
          </a:xfrm>
          <a:prstGeom prst="roundRect">
            <a:avLst>
              <a:gd name="adj" fmla="val 1154"/>
            </a:avLst>
          </a:prstGeom>
          <a:solidFill>
            <a:srgbClr val="F5F7FC"/>
          </a:solidFill>
          <a:ln w="12700">
            <a:solidFill>
              <a:srgbClr val="E3E7F2"/>
            </a:solidFill>
            <a:prstDash val="solid"/>
          </a:ln>
        </p:spPr>
      </p:sp>
      <p:pic>
        <p:nvPicPr>
          <p:cNvPr id="5" name="Image 0" descr="/home/claude/assets/discount_vs_profit.png"/>
          <p:cNvPicPr>
            <a:picLocks noChangeAspect="1"/>
          </p:cNvPicPr>
          <p:nvPr/>
        </p:nvPicPr>
        <p:blipFill>
          <a:blip r:embed="rId3"/>
          <a:stretch>
            <a:fillRect/>
          </a:stretch>
        </p:blipFill>
        <p:spPr>
          <a:xfrm>
            <a:off x="731520" y="1600200"/>
            <a:ext cx="6675120" cy="4389120"/>
          </a:xfrm>
          <a:prstGeom prst="rect">
            <a:avLst/>
          </a:prstGeom>
        </p:spPr>
      </p:pic>
      <p:sp>
        <p:nvSpPr>
          <p:cNvPr id="6" name="Shape 3"/>
          <p:cNvSpPr/>
          <p:nvPr/>
        </p:nvSpPr>
        <p:spPr>
          <a:xfrm>
            <a:off x="7818120" y="1600200"/>
            <a:ext cx="3840480" cy="1554480"/>
          </a:xfrm>
          <a:prstGeom prst="roundRect">
            <a:avLst>
              <a:gd name="adj" fmla="val 4706"/>
            </a:avLst>
          </a:prstGeom>
          <a:solidFill>
            <a:srgbClr val="F2545B"/>
          </a:solidFill>
          <a:ln/>
        </p:spPr>
      </p:sp>
      <p:sp>
        <p:nvSpPr>
          <p:cNvPr id="7" name="Text 4"/>
          <p:cNvSpPr/>
          <p:nvPr/>
        </p:nvSpPr>
        <p:spPr>
          <a:xfrm>
            <a:off x="8046720" y="1737360"/>
            <a:ext cx="338328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r = -0.45</a:t>
            </a:r>
            <a:endParaRPr lang="en-US" sz="3200" dirty="0"/>
          </a:p>
        </p:txBody>
      </p:sp>
      <p:sp>
        <p:nvSpPr>
          <p:cNvPr id="8" name="Text 5"/>
          <p:cNvSpPr/>
          <p:nvPr/>
        </p:nvSpPr>
        <p:spPr>
          <a:xfrm>
            <a:off x="8046720" y="2377440"/>
            <a:ext cx="3383280" cy="685800"/>
          </a:xfrm>
          <a:prstGeom prst="rect">
            <a:avLst/>
          </a:prstGeom>
          <a:noFill/>
          <a:ln/>
        </p:spPr>
        <p:txBody>
          <a:bodyPr wrap="square" rtlCol="0" anchor="ctr"/>
          <a:lstStyle/>
          <a:p>
            <a:pPr marL="0" indent="0">
              <a:lnSpc>
                <a:spcPts val="1500"/>
              </a:lnSpc>
              <a:buNone/>
            </a:pPr>
            <a:r>
              <a:rPr lang="en-US" sz="1250" dirty="0">
                <a:solidFill>
                  <a:srgbClr val="FFFFFF"/>
                </a:solidFill>
                <a:latin typeface="Calibri" pitchFamily="34" charset="0"/>
                <a:ea typeface="Calibri" pitchFamily="34" charset="-122"/>
                <a:cs typeface="Calibri" pitchFamily="34" charset="-120"/>
              </a:rPr>
              <a:t>Moderate negative correlation between Discount and Profit</a:t>
            </a:r>
            <a:endParaRPr lang="en-US" sz="1250" dirty="0"/>
          </a:p>
        </p:txBody>
      </p:sp>
      <p:sp>
        <p:nvSpPr>
          <p:cNvPr id="9" name="Text 6"/>
          <p:cNvSpPr/>
          <p:nvPr/>
        </p:nvSpPr>
        <p:spPr>
          <a:xfrm>
            <a:off x="7818120" y="3383280"/>
            <a:ext cx="3840480" cy="2651760"/>
          </a:xfrm>
          <a:prstGeom prst="rect">
            <a:avLst/>
          </a:prstGeom>
          <a:noFill/>
          <a:ln/>
        </p:spPr>
        <p:txBody>
          <a:bodyPr wrap="square" rtlCol="0" anchor="ctr"/>
          <a:lstStyle/>
          <a:p>
            <a:pPr marL="0" indent="0">
              <a:lnSpc>
                <a:spcPts val="1900"/>
              </a:lnSpc>
              <a:buNone/>
            </a:pPr>
            <a:r>
              <a:rPr lang="en-US" sz="1300" dirty="0">
                <a:solidFill>
                  <a:srgbClr val="333B57"/>
                </a:solidFill>
                <a:latin typeface="Calibri" pitchFamily="34" charset="0"/>
                <a:ea typeface="Calibri" pitchFamily="34" charset="-122"/>
                <a:cs typeface="Calibri" pitchFamily="34" charset="-120"/>
              </a:rPr>
              <a:t>The downward trend line shows profit consistently falling as discount rates rise. A cluster of heavily-discounted orders (bottom-right) even slips into negative profit — suggesting some promotions are sold at a loss.</a:t>
            </a:r>
            <a:endParaRPr lang="en-US" sz="1300" dirty="0"/>
          </a:p>
        </p:txBody>
      </p:sp>
      <p:sp>
        <p:nvSpPr>
          <p:cNvPr id="10" name="Text 7"/>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9AA3B5"/>
                </a:solidFill>
                <a:latin typeface="Calibri" pitchFamily="34" charset="0"/>
                <a:ea typeface="Calibri" pitchFamily="34" charset="-122"/>
                <a:cs typeface="Calibri" pitchFamily="34" charset="-120"/>
              </a:rPr>
              <a:t>Section 3 · Key Findings</a:t>
            </a:r>
            <a:endParaRPr lang="en-US" sz="1000" dirty="0"/>
          </a:p>
        </p:txBody>
      </p:sp>
      <p:sp>
        <p:nvSpPr>
          <p:cNvPr id="11" name="Text 8"/>
          <p:cNvSpPr/>
          <p:nvPr/>
        </p:nvSpPr>
        <p:spPr>
          <a:xfrm>
            <a:off x="7589520" y="6537960"/>
            <a:ext cx="4114800" cy="274320"/>
          </a:xfrm>
          <a:prstGeom prst="rect">
            <a:avLst/>
          </a:prstGeom>
          <a:noFill/>
          <a:ln/>
        </p:spPr>
        <p:txBody>
          <a:bodyPr wrap="square" rtlCol="0" anchor="ctr"/>
          <a:lstStyle/>
          <a:p>
            <a:pPr marL="0" indent="0" algn="r">
              <a:buNone/>
            </a:pPr>
            <a:r>
              <a:rPr lang="en-US" sz="1000" dirty="0">
                <a:solidFill>
                  <a:srgbClr val="9AA3B5"/>
                </a:solidFill>
                <a:latin typeface="Calibri" pitchFamily="34" charset="0"/>
                <a:ea typeface="Calibri" pitchFamily="34" charset="-122"/>
                <a:cs typeface="Calibri" pitchFamily="34" charset="-120"/>
              </a:rPr>
              <a:t>NeoMart Retail Performance Analysis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KEY FINDING · CUSTOMER EXPERIENCE</a:t>
            </a:r>
            <a:endParaRPr lang="en-US" sz="1200" dirty="0"/>
          </a:p>
        </p:txBody>
      </p:sp>
      <p:sp>
        <p:nvSpPr>
          <p:cNvPr id="3" name="Text 1"/>
          <p:cNvSpPr/>
          <p:nvPr/>
        </p:nvSpPr>
        <p:spPr>
          <a:xfrm>
            <a:off x="548640" y="658368"/>
            <a:ext cx="11155680" cy="640080"/>
          </a:xfrm>
          <a:prstGeom prst="rect">
            <a:avLst/>
          </a:prstGeom>
          <a:noFill/>
          <a:ln/>
        </p:spPr>
        <p:txBody>
          <a:bodyPr wrap="square" rtlCol="0" anchor="ctr"/>
          <a:lstStyle/>
          <a:p>
            <a:pPr marL="0" indent="0">
              <a:buNone/>
            </a:pPr>
            <a:r>
              <a:rPr lang="en-US" sz="2200" b="1" dirty="0">
                <a:solidFill>
                  <a:srgbClr val="141B4D"/>
                </a:solidFill>
                <a:latin typeface="Cambria" pitchFamily="34" charset="0"/>
                <a:ea typeface="Cambria" pitchFamily="34" charset="-122"/>
                <a:cs typeface="Cambria" pitchFamily="34" charset="-120"/>
              </a:rPr>
              <a:t>South customers are less satisfied — and less consistently served</a:t>
            </a:r>
            <a:endParaRPr lang="en-US" sz="2200" dirty="0"/>
          </a:p>
        </p:txBody>
      </p:sp>
      <p:sp>
        <p:nvSpPr>
          <p:cNvPr id="4" name="Shape 2"/>
          <p:cNvSpPr/>
          <p:nvPr/>
        </p:nvSpPr>
        <p:spPr>
          <a:xfrm>
            <a:off x="548640" y="1417320"/>
            <a:ext cx="7040880" cy="4754880"/>
          </a:xfrm>
          <a:prstGeom prst="roundRect">
            <a:avLst>
              <a:gd name="adj" fmla="val 1154"/>
            </a:avLst>
          </a:prstGeom>
          <a:solidFill>
            <a:srgbClr val="F5F7FC"/>
          </a:solidFill>
          <a:ln w="12700">
            <a:solidFill>
              <a:srgbClr val="E3E7F2"/>
            </a:solidFill>
            <a:prstDash val="solid"/>
          </a:ln>
        </p:spPr>
      </p:sp>
      <p:pic>
        <p:nvPicPr>
          <p:cNvPr id="5" name="Image 0" descr="/home/claude/assets/satisfaction_by_region.png"/>
          <p:cNvPicPr>
            <a:picLocks noChangeAspect="1"/>
          </p:cNvPicPr>
          <p:nvPr/>
        </p:nvPicPr>
        <p:blipFill>
          <a:blip r:embed="rId3"/>
          <a:stretch>
            <a:fillRect/>
          </a:stretch>
        </p:blipFill>
        <p:spPr>
          <a:xfrm>
            <a:off x="731520" y="1600200"/>
            <a:ext cx="6675120" cy="4389120"/>
          </a:xfrm>
          <a:prstGeom prst="rect">
            <a:avLst/>
          </a:prstGeom>
        </p:spPr>
      </p:pic>
      <p:sp>
        <p:nvSpPr>
          <p:cNvPr id="6" name="Shape 3"/>
          <p:cNvSpPr/>
          <p:nvPr/>
        </p:nvSpPr>
        <p:spPr>
          <a:xfrm>
            <a:off x="7818120" y="1600200"/>
            <a:ext cx="3840480" cy="2011680"/>
          </a:xfrm>
          <a:prstGeom prst="roundRect">
            <a:avLst>
              <a:gd name="adj" fmla="val 3636"/>
            </a:avLst>
          </a:prstGeom>
          <a:solidFill>
            <a:srgbClr val="1E2761"/>
          </a:solidFill>
          <a:ln/>
        </p:spPr>
      </p:sp>
      <p:sp>
        <p:nvSpPr>
          <p:cNvPr id="7" name="Text 4"/>
          <p:cNvSpPr/>
          <p:nvPr/>
        </p:nvSpPr>
        <p:spPr>
          <a:xfrm>
            <a:off x="8046720" y="1737360"/>
            <a:ext cx="3383280" cy="274320"/>
          </a:xfrm>
          <a:prstGeom prst="rect">
            <a:avLst/>
          </a:prstGeom>
          <a:noFill/>
          <a:ln/>
        </p:spPr>
        <p:txBody>
          <a:bodyPr wrap="square" rtlCol="0" anchor="ctr"/>
          <a:lstStyle/>
          <a:p>
            <a:pPr marL="0" indent="0">
              <a:buNone/>
            </a:pPr>
            <a:r>
              <a:rPr lang="en-US" sz="1100" b="1" kern="0" spc="100" dirty="0">
                <a:solidFill>
                  <a:srgbClr val="E8B84B"/>
                </a:solidFill>
                <a:latin typeface="Calibri" pitchFamily="34" charset="0"/>
                <a:ea typeface="Calibri" pitchFamily="34" charset="-122"/>
                <a:cs typeface="Calibri" pitchFamily="34" charset="-120"/>
              </a:rPr>
              <a:t>WEST · NORTH · EAST</a:t>
            </a:r>
            <a:endParaRPr lang="en-US" sz="1100" dirty="0"/>
          </a:p>
        </p:txBody>
      </p:sp>
      <p:sp>
        <p:nvSpPr>
          <p:cNvPr id="8" name="Text 5"/>
          <p:cNvSpPr/>
          <p:nvPr/>
        </p:nvSpPr>
        <p:spPr>
          <a:xfrm>
            <a:off x="8046720" y="2011680"/>
            <a:ext cx="3383280" cy="640080"/>
          </a:xfrm>
          <a:prstGeom prst="rect">
            <a:avLst/>
          </a:prstGeom>
          <a:noFill/>
          <a:ln/>
        </p:spPr>
        <p:txBody>
          <a:bodyPr wrap="square" rtlCol="0" anchor="ctr"/>
          <a:lstStyle/>
          <a:p>
            <a:pPr marL="0" indent="0">
              <a:lnSpc>
                <a:spcPts val="1700"/>
              </a:lnSpc>
              <a:buNone/>
            </a:pPr>
            <a:r>
              <a:rPr lang="en-US" sz="1300" dirty="0">
                <a:solidFill>
                  <a:srgbClr val="FFFFFF"/>
                </a:solidFill>
                <a:latin typeface="Calibri" pitchFamily="34" charset="0"/>
                <a:ea typeface="Calibri" pitchFamily="34" charset="-122"/>
                <a:cs typeface="Calibri" pitchFamily="34" charset="-120"/>
              </a:rPr>
              <a:t>Median satisfaction ~4.2/5, tight and consistent scores</a:t>
            </a:r>
            <a:endParaRPr lang="en-US" sz="1300" dirty="0"/>
          </a:p>
        </p:txBody>
      </p:sp>
      <p:sp>
        <p:nvSpPr>
          <p:cNvPr id="9" name="Shape 6"/>
          <p:cNvSpPr/>
          <p:nvPr/>
        </p:nvSpPr>
        <p:spPr>
          <a:xfrm>
            <a:off x="8046720" y="2788920"/>
            <a:ext cx="3383280" cy="0"/>
          </a:xfrm>
          <a:prstGeom prst="line">
            <a:avLst/>
          </a:prstGeom>
          <a:noFill/>
          <a:ln w="12700">
            <a:solidFill>
              <a:srgbClr val="3A4482"/>
            </a:solidFill>
            <a:prstDash val="solid"/>
          </a:ln>
        </p:spPr>
      </p:sp>
      <p:sp>
        <p:nvSpPr>
          <p:cNvPr id="10" name="Text 7"/>
          <p:cNvSpPr/>
          <p:nvPr/>
        </p:nvSpPr>
        <p:spPr>
          <a:xfrm>
            <a:off x="8046720" y="2880360"/>
            <a:ext cx="3383280" cy="274320"/>
          </a:xfrm>
          <a:prstGeom prst="rect">
            <a:avLst/>
          </a:prstGeom>
          <a:noFill/>
          <a:ln/>
        </p:spPr>
        <p:txBody>
          <a:bodyPr wrap="square" rtlCol="0" anchor="ctr"/>
          <a:lstStyle/>
          <a:p>
            <a:pPr marL="0" indent="0">
              <a:buNone/>
            </a:pPr>
            <a:r>
              <a:rPr lang="en-US" sz="1100" b="1" kern="0" spc="100" dirty="0">
                <a:solidFill>
                  <a:srgbClr val="F2545B"/>
                </a:solidFill>
                <a:latin typeface="Calibri" pitchFamily="34" charset="0"/>
                <a:ea typeface="Calibri" pitchFamily="34" charset="-122"/>
                <a:cs typeface="Calibri" pitchFamily="34" charset="-120"/>
              </a:rPr>
              <a:t>SOUTH</a:t>
            </a:r>
            <a:endParaRPr lang="en-US" sz="1100" dirty="0"/>
          </a:p>
        </p:txBody>
      </p:sp>
      <p:sp>
        <p:nvSpPr>
          <p:cNvPr id="11" name="Text 8"/>
          <p:cNvSpPr/>
          <p:nvPr/>
        </p:nvSpPr>
        <p:spPr>
          <a:xfrm>
            <a:off x="8046720" y="3154680"/>
            <a:ext cx="3383280" cy="411480"/>
          </a:xfrm>
          <a:prstGeom prst="rect">
            <a:avLst/>
          </a:prstGeom>
          <a:noFill/>
          <a:ln/>
        </p:spPr>
        <p:txBody>
          <a:bodyPr wrap="square" rtlCol="0" anchor="ctr"/>
          <a:lstStyle/>
          <a:p>
            <a:pPr marL="0" indent="0">
              <a:lnSpc>
                <a:spcPts val="1600"/>
              </a:lnSpc>
              <a:buNone/>
            </a:pPr>
            <a:r>
              <a:rPr lang="en-US" sz="1300" dirty="0">
                <a:solidFill>
                  <a:srgbClr val="FFFFFF"/>
                </a:solidFill>
                <a:latin typeface="Calibri" pitchFamily="34" charset="0"/>
                <a:ea typeface="Calibri" pitchFamily="34" charset="-122"/>
                <a:cs typeface="Calibri" pitchFamily="34" charset="-120"/>
              </a:rPr>
              <a:t>Median drops to ~3.2/5 with wide variability and low-rating outliers down to 1.6</a:t>
            </a:r>
            <a:endParaRPr lang="en-US" sz="1300" dirty="0"/>
          </a:p>
        </p:txBody>
      </p:sp>
      <p:sp>
        <p:nvSpPr>
          <p:cNvPr id="12" name="Text 9"/>
          <p:cNvSpPr/>
          <p:nvPr/>
        </p:nvSpPr>
        <p:spPr>
          <a:xfrm>
            <a:off x="7818120" y="3794760"/>
            <a:ext cx="3840480" cy="1280160"/>
          </a:xfrm>
          <a:prstGeom prst="rect">
            <a:avLst/>
          </a:prstGeom>
          <a:noFill/>
          <a:ln/>
        </p:spPr>
        <p:txBody>
          <a:bodyPr wrap="square" rtlCol="0" anchor="ctr"/>
          <a:lstStyle/>
          <a:p>
            <a:pPr marL="0" indent="0">
              <a:lnSpc>
                <a:spcPts val="1900"/>
              </a:lnSpc>
              <a:buNone/>
            </a:pPr>
            <a:r>
              <a:rPr lang="en-US" sz="1300" i="1" dirty="0">
                <a:solidFill>
                  <a:srgbClr val="333B57"/>
                </a:solidFill>
                <a:latin typeface="Calibri" pitchFamily="34" charset="0"/>
                <a:ea typeface="Calibri" pitchFamily="34" charset="-122"/>
                <a:cs typeface="Calibri" pitchFamily="34" charset="-120"/>
              </a:rPr>
              <a:t>Inconsistent service in the South is dragging down an otherwise strong satisfaction picture nationally.</a:t>
            </a:r>
            <a:endParaRPr lang="en-US" sz="1300" dirty="0"/>
          </a:p>
        </p:txBody>
      </p:sp>
      <p:sp>
        <p:nvSpPr>
          <p:cNvPr id="13" name="Text 10"/>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9AA3B5"/>
                </a:solidFill>
                <a:latin typeface="Calibri" pitchFamily="34" charset="0"/>
                <a:ea typeface="Calibri" pitchFamily="34" charset="-122"/>
                <a:cs typeface="Calibri" pitchFamily="34" charset="-120"/>
              </a:rPr>
              <a:t>Section 3 · Key Findings</a:t>
            </a:r>
            <a:endParaRPr lang="en-US" sz="1000" dirty="0"/>
          </a:p>
        </p:txBody>
      </p:sp>
      <p:sp>
        <p:nvSpPr>
          <p:cNvPr id="14" name="Text 11"/>
          <p:cNvSpPr/>
          <p:nvPr/>
        </p:nvSpPr>
        <p:spPr>
          <a:xfrm>
            <a:off x="7589520" y="6537960"/>
            <a:ext cx="4114800" cy="274320"/>
          </a:xfrm>
          <a:prstGeom prst="rect">
            <a:avLst/>
          </a:prstGeom>
          <a:noFill/>
          <a:ln/>
        </p:spPr>
        <p:txBody>
          <a:bodyPr wrap="square" rtlCol="0" anchor="ctr"/>
          <a:lstStyle/>
          <a:p>
            <a:pPr marL="0" indent="0" algn="r">
              <a:buNone/>
            </a:pPr>
            <a:r>
              <a:rPr lang="en-US" sz="1000" dirty="0">
                <a:solidFill>
                  <a:srgbClr val="9AA3B5"/>
                </a:solidFill>
                <a:latin typeface="Calibri" pitchFamily="34" charset="0"/>
                <a:ea typeface="Calibri" pitchFamily="34" charset="-122"/>
                <a:cs typeface="Calibri" pitchFamily="34" charset="-120"/>
              </a:rPr>
              <a:t>NeoMart Retail Performance Analysis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KEY FINDING · DELIVERY PERFORMANCE</a:t>
            </a:r>
            <a:endParaRPr lang="en-US" sz="1200" dirty="0"/>
          </a:p>
        </p:txBody>
      </p:sp>
      <p:sp>
        <p:nvSpPr>
          <p:cNvPr id="3" name="Text 1"/>
          <p:cNvSpPr/>
          <p:nvPr/>
        </p:nvSpPr>
        <p:spPr>
          <a:xfrm>
            <a:off x="548640" y="658368"/>
            <a:ext cx="11155680" cy="640080"/>
          </a:xfrm>
          <a:prstGeom prst="rect">
            <a:avLst/>
          </a:prstGeom>
          <a:noFill/>
          <a:ln/>
        </p:spPr>
        <p:txBody>
          <a:bodyPr wrap="square" rtlCol="0" anchor="ctr"/>
          <a:lstStyle/>
          <a:p>
            <a:pPr marL="0" indent="0">
              <a:buNone/>
            </a:pPr>
            <a:r>
              <a:rPr lang="en-US" sz="2200" b="1" dirty="0">
                <a:solidFill>
                  <a:srgbClr val="141B4D"/>
                </a:solidFill>
                <a:latin typeface="Cambria" pitchFamily="34" charset="0"/>
                <a:ea typeface="Cambria" pitchFamily="34" charset="-122"/>
                <a:cs typeface="Cambria" pitchFamily="34" charset="-120"/>
              </a:rPr>
              <a:t>South deliveries take nearly twice as long as everywhere else</a:t>
            </a:r>
            <a:endParaRPr lang="en-US" sz="2200" dirty="0"/>
          </a:p>
        </p:txBody>
      </p:sp>
      <p:sp>
        <p:nvSpPr>
          <p:cNvPr id="4" name="Shape 2"/>
          <p:cNvSpPr/>
          <p:nvPr/>
        </p:nvSpPr>
        <p:spPr>
          <a:xfrm>
            <a:off x="548640" y="1417320"/>
            <a:ext cx="7040880" cy="4754880"/>
          </a:xfrm>
          <a:prstGeom prst="roundRect">
            <a:avLst>
              <a:gd name="adj" fmla="val 1154"/>
            </a:avLst>
          </a:prstGeom>
          <a:solidFill>
            <a:srgbClr val="F5F7FC"/>
          </a:solidFill>
          <a:ln w="12700">
            <a:solidFill>
              <a:srgbClr val="E3E7F2"/>
            </a:solidFill>
            <a:prstDash val="solid"/>
          </a:ln>
        </p:spPr>
      </p:sp>
      <p:pic>
        <p:nvPicPr>
          <p:cNvPr id="5" name="Image 0" descr="/home/claude/assets/delivery_by_region.png"/>
          <p:cNvPicPr>
            <a:picLocks noChangeAspect="1"/>
          </p:cNvPicPr>
          <p:nvPr/>
        </p:nvPicPr>
        <p:blipFill>
          <a:blip r:embed="rId3"/>
          <a:stretch>
            <a:fillRect/>
          </a:stretch>
        </p:blipFill>
        <p:spPr>
          <a:xfrm>
            <a:off x="731520" y="1600200"/>
            <a:ext cx="6675120" cy="4389120"/>
          </a:xfrm>
          <a:prstGeom prst="rect">
            <a:avLst/>
          </a:prstGeom>
        </p:spPr>
      </p:pic>
      <p:sp>
        <p:nvSpPr>
          <p:cNvPr id="6" name="Shape 3"/>
          <p:cNvSpPr/>
          <p:nvPr/>
        </p:nvSpPr>
        <p:spPr>
          <a:xfrm>
            <a:off x="7818120" y="1600200"/>
            <a:ext cx="3840480" cy="1463040"/>
          </a:xfrm>
          <a:prstGeom prst="roundRect">
            <a:avLst>
              <a:gd name="adj" fmla="val 5000"/>
            </a:avLst>
          </a:prstGeom>
          <a:solidFill>
            <a:srgbClr val="F2545B"/>
          </a:solidFill>
          <a:ln/>
        </p:spPr>
      </p:sp>
      <p:sp>
        <p:nvSpPr>
          <p:cNvPr id="7" name="Text 4"/>
          <p:cNvSpPr/>
          <p:nvPr/>
        </p:nvSpPr>
        <p:spPr>
          <a:xfrm>
            <a:off x="8046720" y="1737360"/>
            <a:ext cx="3383280" cy="5486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~7.7 days</a:t>
            </a:r>
            <a:endParaRPr lang="en-US" sz="2800" dirty="0"/>
          </a:p>
        </p:txBody>
      </p:sp>
      <p:sp>
        <p:nvSpPr>
          <p:cNvPr id="8" name="Text 5"/>
          <p:cNvSpPr/>
          <p:nvPr/>
        </p:nvSpPr>
        <p:spPr>
          <a:xfrm>
            <a:off x="8046720" y="2331720"/>
            <a:ext cx="3383280" cy="594360"/>
          </a:xfrm>
          <a:prstGeom prst="rect">
            <a:avLst/>
          </a:prstGeom>
          <a:noFill/>
          <a:ln/>
        </p:spPr>
        <p:txBody>
          <a:bodyPr wrap="square" rtlCol="0" anchor="ctr"/>
          <a:lstStyle/>
          <a:p>
            <a:pPr marL="0" indent="0">
              <a:lnSpc>
                <a:spcPts val="1500"/>
              </a:lnSpc>
              <a:buNone/>
            </a:pPr>
            <a:r>
              <a:rPr lang="en-US" sz="1250" dirty="0">
                <a:solidFill>
                  <a:srgbClr val="FFFFFF"/>
                </a:solidFill>
                <a:latin typeface="Calibri" pitchFamily="34" charset="0"/>
                <a:ea typeface="Calibri" pitchFamily="34" charset="-122"/>
                <a:cs typeface="Calibri" pitchFamily="34" charset="-120"/>
              </a:rPr>
              <a:t>Median delivery time in the South, vs. ~4 days elsewhere</a:t>
            </a:r>
            <a:endParaRPr lang="en-US" sz="1250" dirty="0"/>
          </a:p>
        </p:txBody>
      </p:sp>
      <p:sp>
        <p:nvSpPr>
          <p:cNvPr id="9" name="Text 6"/>
          <p:cNvSpPr/>
          <p:nvPr/>
        </p:nvSpPr>
        <p:spPr>
          <a:xfrm>
            <a:off x="7818120" y="3291840"/>
            <a:ext cx="3840480" cy="2651760"/>
          </a:xfrm>
          <a:prstGeom prst="rect">
            <a:avLst/>
          </a:prstGeom>
          <a:noFill/>
          <a:ln/>
        </p:spPr>
        <p:txBody>
          <a:bodyPr wrap="square" rtlCol="0" anchor="ctr"/>
          <a:lstStyle/>
          <a:p>
            <a:pPr marL="0" indent="0">
              <a:lnSpc>
                <a:spcPts val="1900"/>
              </a:lnSpc>
              <a:buNone/>
            </a:pPr>
            <a:r>
              <a:rPr lang="en-US" sz="1300" dirty="0">
                <a:solidFill>
                  <a:srgbClr val="333B57"/>
                </a:solidFill>
                <a:latin typeface="Calibri" pitchFamily="34" charset="0"/>
                <a:ea typeface="Calibri" pitchFamily="34" charset="-122"/>
                <a:cs typeface="Calibri" pitchFamily="34" charset="-120"/>
              </a:rPr>
              <a:t>The South also shows the widest spread and several outlier deliveries stretching past 11-12 days — a likely root cause of the region's lower satisfaction scores.</a:t>
            </a:r>
            <a:endParaRPr lang="en-US" sz="1300" dirty="0"/>
          </a:p>
        </p:txBody>
      </p:sp>
      <p:sp>
        <p:nvSpPr>
          <p:cNvPr id="10" name="Text 7"/>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9AA3B5"/>
                </a:solidFill>
                <a:latin typeface="Calibri" pitchFamily="34" charset="0"/>
                <a:ea typeface="Calibri" pitchFamily="34" charset="-122"/>
                <a:cs typeface="Calibri" pitchFamily="34" charset="-120"/>
              </a:rPr>
              <a:t>Section 3 · Key Findings</a:t>
            </a:r>
            <a:endParaRPr lang="en-US" sz="1000" dirty="0"/>
          </a:p>
        </p:txBody>
      </p:sp>
      <p:sp>
        <p:nvSpPr>
          <p:cNvPr id="11" name="Text 8"/>
          <p:cNvSpPr/>
          <p:nvPr/>
        </p:nvSpPr>
        <p:spPr>
          <a:xfrm>
            <a:off x="7589520" y="6537960"/>
            <a:ext cx="4114800" cy="274320"/>
          </a:xfrm>
          <a:prstGeom prst="rect">
            <a:avLst/>
          </a:prstGeom>
          <a:noFill/>
          <a:ln/>
        </p:spPr>
        <p:txBody>
          <a:bodyPr wrap="square" rtlCol="0" anchor="ctr"/>
          <a:lstStyle/>
          <a:p>
            <a:pPr marL="0" indent="0" algn="r">
              <a:buNone/>
            </a:pPr>
            <a:r>
              <a:rPr lang="en-US" sz="1000" dirty="0">
                <a:solidFill>
                  <a:srgbClr val="9AA3B5"/>
                </a:solidFill>
                <a:latin typeface="Calibri" pitchFamily="34" charset="0"/>
                <a:ea typeface="Calibri" pitchFamily="34" charset="-122"/>
                <a:cs typeface="Calibri" pitchFamily="34" charset="-120"/>
              </a:rPr>
              <a:t>NeoMart Retail Performance Analysis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4D"/>
        </a:solidFill>
        <a:effectLst/>
      </p:bgPr>
    </p:bg>
    <p:spTree>
      <p:nvGrpSpPr>
        <p:cNvPr id="1" name=""/>
        <p:cNvGrpSpPr/>
        <p:nvPr/>
      </p:nvGrpSpPr>
      <p:grpSpPr>
        <a:xfrm>
          <a:off x="0" y="0"/>
          <a:ext cx="0" cy="0"/>
          <a:chOff x="0" y="0"/>
          <a:chExt cx="0" cy="0"/>
        </a:xfrm>
      </p:grpSpPr>
      <p:sp>
        <p:nvSpPr>
          <p:cNvPr id="2" name="Text 0"/>
          <p:cNvSpPr/>
          <p:nvPr/>
        </p:nvSpPr>
        <p:spPr>
          <a:xfrm>
            <a:off x="548640" y="411480"/>
            <a:ext cx="3657600" cy="320040"/>
          </a:xfrm>
          <a:prstGeom prst="rect">
            <a:avLst/>
          </a:prstGeom>
          <a:noFill/>
          <a:ln/>
        </p:spPr>
        <p:txBody>
          <a:bodyPr wrap="square" rtlCol="0" anchor="ctr"/>
          <a:lstStyle/>
          <a:p>
            <a:pPr marL="0" indent="0">
              <a:buNone/>
            </a:pPr>
            <a:r>
              <a:rPr lang="en-US" sz="1200" b="1" kern="0" spc="200" dirty="0">
                <a:solidFill>
                  <a:srgbClr val="E8B84B"/>
                </a:solidFill>
                <a:latin typeface="Calibri" pitchFamily="34" charset="0"/>
                <a:ea typeface="Calibri" pitchFamily="34" charset="-122"/>
                <a:cs typeface="Calibri" pitchFamily="34" charset="-120"/>
              </a:rPr>
              <a:t>DEEPER ANALYSIS</a:t>
            </a:r>
            <a:endParaRPr lang="en-US" sz="1200" dirty="0"/>
          </a:p>
        </p:txBody>
      </p:sp>
      <p:sp>
        <p:nvSpPr>
          <p:cNvPr id="3" name="Text 1"/>
          <p:cNvSpPr/>
          <p:nvPr/>
        </p:nvSpPr>
        <p:spPr>
          <a:xfrm>
            <a:off x="548640" y="713232"/>
            <a:ext cx="10515600" cy="5486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How the metrics move together</a:t>
            </a:r>
            <a:endParaRPr lang="en-US" sz="2800" dirty="0"/>
          </a:p>
        </p:txBody>
      </p:sp>
      <p:sp>
        <p:nvSpPr>
          <p:cNvPr id="4" name="Shape 2"/>
          <p:cNvSpPr/>
          <p:nvPr/>
        </p:nvSpPr>
        <p:spPr>
          <a:xfrm>
            <a:off x="548640" y="1463040"/>
            <a:ext cx="3566160" cy="1965960"/>
          </a:xfrm>
          <a:prstGeom prst="roundRect">
            <a:avLst>
              <a:gd name="adj" fmla="val 3721"/>
            </a:avLst>
          </a:prstGeom>
          <a:solidFill>
            <a:srgbClr val="1E2761"/>
          </a:solidFill>
          <a:ln/>
        </p:spPr>
      </p:sp>
      <p:sp>
        <p:nvSpPr>
          <p:cNvPr id="5" name="Text 3"/>
          <p:cNvSpPr/>
          <p:nvPr/>
        </p:nvSpPr>
        <p:spPr>
          <a:xfrm>
            <a:off x="749808" y="1627632"/>
            <a:ext cx="1828800" cy="502920"/>
          </a:xfrm>
          <a:prstGeom prst="rect">
            <a:avLst/>
          </a:prstGeom>
          <a:noFill/>
          <a:ln/>
        </p:spPr>
        <p:txBody>
          <a:bodyPr wrap="square" rtlCol="0" anchor="ctr"/>
          <a:lstStyle/>
          <a:p>
            <a:pPr marL="0" indent="0">
              <a:buNone/>
            </a:pPr>
            <a:r>
              <a:rPr lang="en-US" sz="2600" b="1" dirty="0">
                <a:solidFill>
                  <a:srgbClr val="2FA875"/>
                </a:solidFill>
                <a:latin typeface="Cambria" pitchFamily="34" charset="0"/>
                <a:ea typeface="Cambria" pitchFamily="34" charset="-122"/>
                <a:cs typeface="Cambria" pitchFamily="34" charset="-120"/>
              </a:rPr>
              <a:t>0.99</a:t>
            </a:r>
            <a:endParaRPr lang="en-US" sz="2600" dirty="0"/>
          </a:p>
        </p:txBody>
      </p:sp>
      <p:sp>
        <p:nvSpPr>
          <p:cNvPr id="6" name="Text 4"/>
          <p:cNvSpPr/>
          <p:nvPr/>
        </p:nvSpPr>
        <p:spPr>
          <a:xfrm>
            <a:off x="749808" y="2176272"/>
            <a:ext cx="3163824" cy="320040"/>
          </a:xfrm>
          <a:prstGeom prst="rect">
            <a:avLst/>
          </a:prstGeom>
          <a:noFill/>
          <a:ln/>
        </p:spPr>
        <p:txBody>
          <a:bodyPr wrap="square" rtlCol="0" anchor="ctr"/>
          <a:lstStyle/>
          <a:p>
            <a:pPr marL="0" indent="0">
              <a:buNone/>
            </a:pPr>
            <a:r>
              <a:rPr lang="en-US" sz="1200" b="1" kern="0" spc="50" dirty="0">
                <a:solidFill>
                  <a:srgbClr val="E8B84B"/>
                </a:solidFill>
                <a:latin typeface="Calibri" pitchFamily="34" charset="0"/>
                <a:ea typeface="Calibri" pitchFamily="34" charset="-122"/>
                <a:cs typeface="Calibri" pitchFamily="34" charset="-120"/>
              </a:rPr>
              <a:t>SALES ↔ COST</a:t>
            </a:r>
            <a:endParaRPr lang="en-US" sz="1200" dirty="0"/>
          </a:p>
        </p:txBody>
      </p:sp>
      <p:sp>
        <p:nvSpPr>
          <p:cNvPr id="7" name="Text 5"/>
          <p:cNvSpPr/>
          <p:nvPr/>
        </p:nvSpPr>
        <p:spPr>
          <a:xfrm>
            <a:off x="749808" y="2505456"/>
            <a:ext cx="3163824" cy="822960"/>
          </a:xfrm>
          <a:prstGeom prst="rect">
            <a:avLst/>
          </a:prstGeom>
          <a:noFill/>
          <a:ln/>
        </p:spPr>
        <p:txBody>
          <a:bodyPr wrap="square" rtlCol="0" anchor="ctr"/>
          <a:lstStyle/>
          <a:p>
            <a:pPr marL="0" indent="0">
              <a:lnSpc>
                <a:spcPts val="1500"/>
              </a:lnSpc>
              <a:buNone/>
            </a:pPr>
            <a:r>
              <a:rPr lang="en-US" sz="1150" dirty="0">
                <a:solidFill>
                  <a:srgbClr val="CADCFC"/>
                </a:solidFill>
                <a:latin typeface="Calibri" pitchFamily="34" charset="0"/>
                <a:ea typeface="Calibri" pitchFamily="34" charset="-122"/>
                <a:cs typeface="Calibri" pitchFamily="34" charset="-120"/>
              </a:rPr>
              <a:t>Sales rise alongside cost of goods sold — expected as more units move.</a:t>
            </a:r>
            <a:endParaRPr lang="en-US" sz="1150" dirty="0"/>
          </a:p>
        </p:txBody>
      </p:sp>
      <p:sp>
        <p:nvSpPr>
          <p:cNvPr id="8" name="Shape 6"/>
          <p:cNvSpPr/>
          <p:nvPr/>
        </p:nvSpPr>
        <p:spPr>
          <a:xfrm>
            <a:off x="4343400" y="1463040"/>
            <a:ext cx="3566160" cy="1965960"/>
          </a:xfrm>
          <a:prstGeom prst="roundRect">
            <a:avLst>
              <a:gd name="adj" fmla="val 3721"/>
            </a:avLst>
          </a:prstGeom>
          <a:solidFill>
            <a:srgbClr val="1E2761"/>
          </a:solidFill>
          <a:ln/>
        </p:spPr>
      </p:sp>
      <p:sp>
        <p:nvSpPr>
          <p:cNvPr id="9" name="Text 7"/>
          <p:cNvSpPr/>
          <p:nvPr/>
        </p:nvSpPr>
        <p:spPr>
          <a:xfrm>
            <a:off x="4544568" y="1627632"/>
            <a:ext cx="1828800" cy="502920"/>
          </a:xfrm>
          <a:prstGeom prst="rect">
            <a:avLst/>
          </a:prstGeom>
          <a:noFill/>
          <a:ln/>
        </p:spPr>
        <p:txBody>
          <a:bodyPr wrap="square" rtlCol="0" anchor="ctr"/>
          <a:lstStyle/>
          <a:p>
            <a:pPr marL="0" indent="0">
              <a:buNone/>
            </a:pPr>
            <a:r>
              <a:rPr lang="en-US" sz="2600" b="1" dirty="0">
                <a:solidFill>
                  <a:srgbClr val="F2545B"/>
                </a:solidFill>
                <a:latin typeface="Cambria" pitchFamily="34" charset="0"/>
                <a:ea typeface="Cambria" pitchFamily="34" charset="-122"/>
                <a:cs typeface="Cambria" pitchFamily="34" charset="-120"/>
              </a:rPr>
              <a:t>-0.45</a:t>
            </a:r>
            <a:endParaRPr lang="en-US" sz="2600" dirty="0"/>
          </a:p>
        </p:txBody>
      </p:sp>
      <p:sp>
        <p:nvSpPr>
          <p:cNvPr id="10" name="Text 8"/>
          <p:cNvSpPr/>
          <p:nvPr/>
        </p:nvSpPr>
        <p:spPr>
          <a:xfrm>
            <a:off x="4544568" y="2176272"/>
            <a:ext cx="3163824" cy="320040"/>
          </a:xfrm>
          <a:prstGeom prst="rect">
            <a:avLst/>
          </a:prstGeom>
          <a:noFill/>
          <a:ln/>
        </p:spPr>
        <p:txBody>
          <a:bodyPr wrap="square" rtlCol="0" anchor="ctr"/>
          <a:lstStyle/>
          <a:p>
            <a:pPr marL="0" indent="0">
              <a:buNone/>
            </a:pPr>
            <a:r>
              <a:rPr lang="en-US" sz="1200" b="1" kern="0" spc="50" dirty="0">
                <a:solidFill>
                  <a:srgbClr val="E8B84B"/>
                </a:solidFill>
                <a:latin typeface="Calibri" pitchFamily="34" charset="0"/>
                <a:ea typeface="Calibri" pitchFamily="34" charset="-122"/>
                <a:cs typeface="Calibri" pitchFamily="34" charset="-120"/>
              </a:rPr>
              <a:t>DISCOUNT ↔ PROFIT</a:t>
            </a:r>
            <a:endParaRPr lang="en-US" sz="1200" dirty="0"/>
          </a:p>
        </p:txBody>
      </p:sp>
      <p:sp>
        <p:nvSpPr>
          <p:cNvPr id="11" name="Text 9"/>
          <p:cNvSpPr/>
          <p:nvPr/>
        </p:nvSpPr>
        <p:spPr>
          <a:xfrm>
            <a:off x="4544568" y="2505456"/>
            <a:ext cx="3163824" cy="822960"/>
          </a:xfrm>
          <a:prstGeom prst="rect">
            <a:avLst/>
          </a:prstGeom>
          <a:noFill/>
          <a:ln/>
        </p:spPr>
        <p:txBody>
          <a:bodyPr wrap="square" rtlCol="0" anchor="ctr"/>
          <a:lstStyle/>
          <a:p>
            <a:pPr marL="0" indent="0">
              <a:lnSpc>
                <a:spcPts val="1500"/>
              </a:lnSpc>
              <a:buNone/>
            </a:pPr>
            <a:r>
              <a:rPr lang="en-US" sz="1150" dirty="0">
                <a:solidFill>
                  <a:srgbClr val="CADCFC"/>
                </a:solidFill>
                <a:latin typeface="Calibri" pitchFamily="34" charset="0"/>
                <a:ea typeface="Calibri" pitchFamily="34" charset="-122"/>
                <a:cs typeface="Calibri" pitchFamily="34" charset="-120"/>
              </a:rPr>
              <a:t>Higher discounts are associated with lower profits.</a:t>
            </a:r>
            <a:endParaRPr lang="en-US" sz="1150" dirty="0"/>
          </a:p>
        </p:txBody>
      </p:sp>
      <p:sp>
        <p:nvSpPr>
          <p:cNvPr id="12" name="Shape 10"/>
          <p:cNvSpPr/>
          <p:nvPr/>
        </p:nvSpPr>
        <p:spPr>
          <a:xfrm>
            <a:off x="8138160" y="1463040"/>
            <a:ext cx="3566160" cy="1965960"/>
          </a:xfrm>
          <a:prstGeom prst="roundRect">
            <a:avLst>
              <a:gd name="adj" fmla="val 3721"/>
            </a:avLst>
          </a:prstGeom>
          <a:solidFill>
            <a:srgbClr val="1E2761"/>
          </a:solidFill>
          <a:ln/>
        </p:spPr>
      </p:sp>
      <p:sp>
        <p:nvSpPr>
          <p:cNvPr id="13" name="Text 11"/>
          <p:cNvSpPr/>
          <p:nvPr/>
        </p:nvSpPr>
        <p:spPr>
          <a:xfrm>
            <a:off x="8339328" y="1627632"/>
            <a:ext cx="1828800" cy="502920"/>
          </a:xfrm>
          <a:prstGeom prst="rect">
            <a:avLst/>
          </a:prstGeom>
          <a:noFill/>
          <a:ln/>
        </p:spPr>
        <p:txBody>
          <a:bodyPr wrap="square" rtlCol="0" anchor="ctr"/>
          <a:lstStyle/>
          <a:p>
            <a:pPr marL="0" indent="0">
              <a:buNone/>
            </a:pPr>
            <a:r>
              <a:rPr lang="en-US" sz="2600" b="1" dirty="0">
                <a:solidFill>
                  <a:srgbClr val="F2545B"/>
                </a:solidFill>
                <a:latin typeface="Cambria" pitchFamily="34" charset="0"/>
                <a:ea typeface="Cambria" pitchFamily="34" charset="-122"/>
                <a:cs typeface="Cambria" pitchFamily="34" charset="-120"/>
              </a:rPr>
              <a:t>-0.64</a:t>
            </a:r>
            <a:endParaRPr lang="en-US" sz="2600" dirty="0"/>
          </a:p>
        </p:txBody>
      </p:sp>
      <p:sp>
        <p:nvSpPr>
          <p:cNvPr id="14" name="Text 12"/>
          <p:cNvSpPr/>
          <p:nvPr/>
        </p:nvSpPr>
        <p:spPr>
          <a:xfrm>
            <a:off x="8339328" y="2176272"/>
            <a:ext cx="3163824" cy="320040"/>
          </a:xfrm>
          <a:prstGeom prst="rect">
            <a:avLst/>
          </a:prstGeom>
          <a:noFill/>
          <a:ln/>
        </p:spPr>
        <p:txBody>
          <a:bodyPr wrap="square" rtlCol="0" anchor="ctr"/>
          <a:lstStyle/>
          <a:p>
            <a:pPr marL="0" indent="0">
              <a:buNone/>
            </a:pPr>
            <a:r>
              <a:rPr lang="en-US" sz="1200" b="1" kern="0" spc="50" dirty="0">
                <a:solidFill>
                  <a:srgbClr val="E8B84B"/>
                </a:solidFill>
                <a:latin typeface="Calibri" pitchFamily="34" charset="0"/>
                <a:ea typeface="Calibri" pitchFamily="34" charset="-122"/>
                <a:cs typeface="Calibri" pitchFamily="34" charset="-120"/>
              </a:rPr>
              <a:t>DISCOUNT ↔ SATISFACTION</a:t>
            </a:r>
            <a:endParaRPr lang="en-US" sz="1200" dirty="0"/>
          </a:p>
        </p:txBody>
      </p:sp>
      <p:sp>
        <p:nvSpPr>
          <p:cNvPr id="15" name="Text 13"/>
          <p:cNvSpPr/>
          <p:nvPr/>
        </p:nvSpPr>
        <p:spPr>
          <a:xfrm>
            <a:off x="8339328" y="2505456"/>
            <a:ext cx="3163824" cy="822960"/>
          </a:xfrm>
          <a:prstGeom prst="rect">
            <a:avLst/>
          </a:prstGeom>
          <a:noFill/>
          <a:ln/>
        </p:spPr>
        <p:txBody>
          <a:bodyPr wrap="square" rtlCol="0" anchor="ctr"/>
          <a:lstStyle/>
          <a:p>
            <a:pPr marL="0" indent="0">
              <a:lnSpc>
                <a:spcPts val="1500"/>
              </a:lnSpc>
              <a:buNone/>
            </a:pPr>
            <a:r>
              <a:rPr lang="en-US" sz="1150" dirty="0">
                <a:solidFill>
                  <a:srgbClr val="CADCFC"/>
                </a:solidFill>
                <a:latin typeface="Calibri" pitchFamily="34" charset="0"/>
                <a:ea typeface="Calibri" pitchFamily="34" charset="-122"/>
                <a:cs typeface="Calibri" pitchFamily="34" charset="-120"/>
              </a:rPr>
              <a:t>Bigger discounts coincide with lower customer satisfaction.</a:t>
            </a:r>
            <a:endParaRPr lang="en-US" sz="1150" dirty="0"/>
          </a:p>
        </p:txBody>
      </p:sp>
      <p:sp>
        <p:nvSpPr>
          <p:cNvPr id="16" name="Shape 14"/>
          <p:cNvSpPr/>
          <p:nvPr/>
        </p:nvSpPr>
        <p:spPr>
          <a:xfrm>
            <a:off x="548640" y="3657600"/>
            <a:ext cx="3566160" cy="1965960"/>
          </a:xfrm>
          <a:prstGeom prst="roundRect">
            <a:avLst>
              <a:gd name="adj" fmla="val 3721"/>
            </a:avLst>
          </a:prstGeom>
          <a:solidFill>
            <a:srgbClr val="1E2761"/>
          </a:solidFill>
          <a:ln/>
        </p:spPr>
      </p:sp>
      <p:sp>
        <p:nvSpPr>
          <p:cNvPr id="17" name="Text 15"/>
          <p:cNvSpPr/>
          <p:nvPr/>
        </p:nvSpPr>
        <p:spPr>
          <a:xfrm>
            <a:off x="749808" y="3822192"/>
            <a:ext cx="1828800" cy="502920"/>
          </a:xfrm>
          <a:prstGeom prst="rect">
            <a:avLst/>
          </a:prstGeom>
          <a:noFill/>
          <a:ln/>
        </p:spPr>
        <p:txBody>
          <a:bodyPr wrap="square" rtlCol="0" anchor="ctr"/>
          <a:lstStyle/>
          <a:p>
            <a:pPr marL="0" indent="0">
              <a:buNone/>
            </a:pPr>
            <a:r>
              <a:rPr lang="en-US" sz="2600" b="1" dirty="0">
                <a:solidFill>
                  <a:srgbClr val="F2545B"/>
                </a:solidFill>
                <a:latin typeface="Cambria" pitchFamily="34" charset="0"/>
                <a:ea typeface="Cambria" pitchFamily="34" charset="-122"/>
                <a:cs typeface="Cambria" pitchFamily="34" charset="-120"/>
              </a:rPr>
              <a:t>0.65</a:t>
            </a:r>
            <a:endParaRPr lang="en-US" sz="2600" dirty="0"/>
          </a:p>
        </p:txBody>
      </p:sp>
      <p:sp>
        <p:nvSpPr>
          <p:cNvPr id="18" name="Text 16"/>
          <p:cNvSpPr/>
          <p:nvPr/>
        </p:nvSpPr>
        <p:spPr>
          <a:xfrm>
            <a:off x="749808" y="4370832"/>
            <a:ext cx="3163824" cy="320040"/>
          </a:xfrm>
          <a:prstGeom prst="rect">
            <a:avLst/>
          </a:prstGeom>
          <a:noFill/>
          <a:ln/>
        </p:spPr>
        <p:txBody>
          <a:bodyPr wrap="square" rtlCol="0" anchor="ctr"/>
          <a:lstStyle/>
          <a:p>
            <a:pPr marL="0" indent="0">
              <a:buNone/>
            </a:pPr>
            <a:r>
              <a:rPr lang="en-US" sz="1200" b="1" kern="0" spc="50" dirty="0">
                <a:solidFill>
                  <a:srgbClr val="E8B84B"/>
                </a:solidFill>
                <a:latin typeface="Calibri" pitchFamily="34" charset="0"/>
                <a:ea typeface="Calibri" pitchFamily="34" charset="-122"/>
                <a:cs typeface="Calibri" pitchFamily="34" charset="-120"/>
              </a:rPr>
              <a:t>DISCOUNT ↔ DELIVERY DAYS</a:t>
            </a:r>
            <a:endParaRPr lang="en-US" sz="1200" dirty="0"/>
          </a:p>
        </p:txBody>
      </p:sp>
      <p:sp>
        <p:nvSpPr>
          <p:cNvPr id="19" name="Text 17"/>
          <p:cNvSpPr/>
          <p:nvPr/>
        </p:nvSpPr>
        <p:spPr>
          <a:xfrm>
            <a:off x="749808" y="4700016"/>
            <a:ext cx="3163824" cy="822960"/>
          </a:xfrm>
          <a:prstGeom prst="rect">
            <a:avLst/>
          </a:prstGeom>
          <a:noFill/>
          <a:ln/>
        </p:spPr>
        <p:txBody>
          <a:bodyPr wrap="square" rtlCol="0" anchor="ctr"/>
          <a:lstStyle/>
          <a:p>
            <a:pPr marL="0" indent="0">
              <a:lnSpc>
                <a:spcPts val="1500"/>
              </a:lnSpc>
              <a:buNone/>
            </a:pPr>
            <a:r>
              <a:rPr lang="en-US" sz="1150" dirty="0">
                <a:solidFill>
                  <a:srgbClr val="CADCFC"/>
                </a:solidFill>
                <a:latin typeface="Calibri" pitchFamily="34" charset="0"/>
                <a:ea typeface="Calibri" pitchFamily="34" charset="-122"/>
                <a:cs typeface="Calibri" pitchFamily="34" charset="-120"/>
              </a:rPr>
              <a:t>Higher-discount orders tend to take longer to deliver.</a:t>
            </a:r>
            <a:endParaRPr lang="en-US" sz="1150" dirty="0"/>
          </a:p>
        </p:txBody>
      </p:sp>
      <p:sp>
        <p:nvSpPr>
          <p:cNvPr id="20" name="Shape 18"/>
          <p:cNvSpPr/>
          <p:nvPr/>
        </p:nvSpPr>
        <p:spPr>
          <a:xfrm>
            <a:off x="4343400" y="3657600"/>
            <a:ext cx="3566160" cy="1965960"/>
          </a:xfrm>
          <a:prstGeom prst="roundRect">
            <a:avLst>
              <a:gd name="adj" fmla="val 3721"/>
            </a:avLst>
          </a:prstGeom>
          <a:solidFill>
            <a:srgbClr val="1E2761"/>
          </a:solidFill>
          <a:ln/>
        </p:spPr>
      </p:sp>
      <p:sp>
        <p:nvSpPr>
          <p:cNvPr id="21" name="Text 19"/>
          <p:cNvSpPr/>
          <p:nvPr/>
        </p:nvSpPr>
        <p:spPr>
          <a:xfrm>
            <a:off x="4544568" y="3822192"/>
            <a:ext cx="1828800" cy="502920"/>
          </a:xfrm>
          <a:prstGeom prst="rect">
            <a:avLst/>
          </a:prstGeom>
          <a:noFill/>
          <a:ln/>
        </p:spPr>
        <p:txBody>
          <a:bodyPr wrap="square" rtlCol="0" anchor="ctr"/>
          <a:lstStyle/>
          <a:p>
            <a:pPr marL="0" indent="0">
              <a:buNone/>
            </a:pPr>
            <a:r>
              <a:rPr lang="en-US" sz="2600" b="1" dirty="0">
                <a:solidFill>
                  <a:srgbClr val="F2545B"/>
                </a:solidFill>
                <a:latin typeface="Cambria" pitchFamily="34" charset="0"/>
                <a:ea typeface="Cambria" pitchFamily="34" charset="-122"/>
                <a:cs typeface="Cambria" pitchFamily="34" charset="-120"/>
              </a:rPr>
              <a:t>-0.62</a:t>
            </a:r>
            <a:endParaRPr lang="en-US" sz="2600" dirty="0"/>
          </a:p>
        </p:txBody>
      </p:sp>
      <p:sp>
        <p:nvSpPr>
          <p:cNvPr id="22" name="Text 20"/>
          <p:cNvSpPr/>
          <p:nvPr/>
        </p:nvSpPr>
        <p:spPr>
          <a:xfrm>
            <a:off x="4544568" y="4370832"/>
            <a:ext cx="3163824" cy="320040"/>
          </a:xfrm>
          <a:prstGeom prst="rect">
            <a:avLst/>
          </a:prstGeom>
          <a:noFill/>
          <a:ln/>
        </p:spPr>
        <p:txBody>
          <a:bodyPr wrap="square" rtlCol="0" anchor="ctr"/>
          <a:lstStyle/>
          <a:p>
            <a:pPr marL="0" indent="0">
              <a:buNone/>
            </a:pPr>
            <a:r>
              <a:rPr lang="en-US" sz="1200" b="1" kern="0" spc="50" dirty="0">
                <a:solidFill>
                  <a:srgbClr val="E8B84B"/>
                </a:solidFill>
                <a:latin typeface="Calibri" pitchFamily="34" charset="0"/>
                <a:ea typeface="Calibri" pitchFamily="34" charset="-122"/>
                <a:cs typeface="Calibri" pitchFamily="34" charset="-120"/>
              </a:rPr>
              <a:t>SATISFACTION ↔ DELIVERY DAYS</a:t>
            </a:r>
            <a:endParaRPr lang="en-US" sz="1200" dirty="0"/>
          </a:p>
        </p:txBody>
      </p:sp>
      <p:sp>
        <p:nvSpPr>
          <p:cNvPr id="23" name="Text 21"/>
          <p:cNvSpPr/>
          <p:nvPr/>
        </p:nvSpPr>
        <p:spPr>
          <a:xfrm>
            <a:off x="4544568" y="4700016"/>
            <a:ext cx="3163824" cy="822960"/>
          </a:xfrm>
          <a:prstGeom prst="rect">
            <a:avLst/>
          </a:prstGeom>
          <a:noFill/>
          <a:ln/>
        </p:spPr>
        <p:txBody>
          <a:bodyPr wrap="square" rtlCol="0" anchor="ctr"/>
          <a:lstStyle/>
          <a:p>
            <a:pPr marL="0" indent="0">
              <a:lnSpc>
                <a:spcPts val="1500"/>
              </a:lnSpc>
              <a:buNone/>
            </a:pPr>
            <a:r>
              <a:rPr lang="en-US" sz="1150" dirty="0">
                <a:solidFill>
                  <a:srgbClr val="CADCFC"/>
                </a:solidFill>
                <a:latin typeface="Calibri" pitchFamily="34" charset="0"/>
                <a:ea typeface="Calibri" pitchFamily="34" charset="-122"/>
                <a:cs typeface="Calibri" pitchFamily="34" charset="-120"/>
              </a:rPr>
              <a:t>Slower deliveries track with lower satisfaction.</a:t>
            </a:r>
            <a:endParaRPr lang="en-US" sz="1150" dirty="0"/>
          </a:p>
        </p:txBody>
      </p:sp>
      <p:sp>
        <p:nvSpPr>
          <p:cNvPr id="24" name="Shape 22"/>
          <p:cNvSpPr/>
          <p:nvPr/>
        </p:nvSpPr>
        <p:spPr>
          <a:xfrm>
            <a:off x="8138160" y="3657600"/>
            <a:ext cx="3566160" cy="1965960"/>
          </a:xfrm>
          <a:prstGeom prst="roundRect">
            <a:avLst>
              <a:gd name="adj" fmla="val 3721"/>
            </a:avLst>
          </a:prstGeom>
          <a:solidFill>
            <a:srgbClr val="1E2761"/>
          </a:solidFill>
          <a:ln/>
        </p:spPr>
      </p:sp>
      <p:sp>
        <p:nvSpPr>
          <p:cNvPr id="25" name="Text 23"/>
          <p:cNvSpPr/>
          <p:nvPr/>
        </p:nvSpPr>
        <p:spPr>
          <a:xfrm>
            <a:off x="8339328" y="3822192"/>
            <a:ext cx="1828800" cy="502920"/>
          </a:xfrm>
          <a:prstGeom prst="rect">
            <a:avLst/>
          </a:prstGeom>
          <a:noFill/>
          <a:ln/>
        </p:spPr>
        <p:txBody>
          <a:bodyPr wrap="square" rtlCol="0" anchor="ctr"/>
          <a:lstStyle/>
          <a:p>
            <a:pPr marL="0" indent="0">
              <a:buNone/>
            </a:pPr>
            <a:r>
              <a:rPr lang="en-US" sz="2600" b="1" dirty="0">
                <a:solidFill>
                  <a:srgbClr val="2FA875"/>
                </a:solidFill>
                <a:latin typeface="Cambria" pitchFamily="34" charset="0"/>
                <a:ea typeface="Cambria" pitchFamily="34" charset="-122"/>
                <a:cs typeface="Cambria" pitchFamily="34" charset="-120"/>
              </a:rPr>
              <a:t>0.29</a:t>
            </a:r>
            <a:endParaRPr lang="en-US" sz="2600" dirty="0"/>
          </a:p>
        </p:txBody>
      </p:sp>
      <p:sp>
        <p:nvSpPr>
          <p:cNvPr id="26" name="Text 24"/>
          <p:cNvSpPr/>
          <p:nvPr/>
        </p:nvSpPr>
        <p:spPr>
          <a:xfrm>
            <a:off x="8339328" y="4370832"/>
            <a:ext cx="3163824" cy="320040"/>
          </a:xfrm>
          <a:prstGeom prst="rect">
            <a:avLst/>
          </a:prstGeom>
          <a:noFill/>
          <a:ln/>
        </p:spPr>
        <p:txBody>
          <a:bodyPr wrap="square" rtlCol="0" anchor="ctr"/>
          <a:lstStyle/>
          <a:p>
            <a:pPr marL="0" indent="0">
              <a:buNone/>
            </a:pPr>
            <a:r>
              <a:rPr lang="en-US" sz="1200" b="1" kern="0" spc="50" dirty="0">
                <a:solidFill>
                  <a:srgbClr val="E8B84B"/>
                </a:solidFill>
                <a:latin typeface="Calibri" pitchFamily="34" charset="0"/>
                <a:ea typeface="Calibri" pitchFamily="34" charset="-122"/>
                <a:cs typeface="Calibri" pitchFamily="34" charset="-120"/>
              </a:rPr>
              <a:t>PROFIT ↔ SATISFACTION</a:t>
            </a:r>
            <a:endParaRPr lang="en-US" sz="1200" dirty="0"/>
          </a:p>
        </p:txBody>
      </p:sp>
      <p:sp>
        <p:nvSpPr>
          <p:cNvPr id="27" name="Text 25"/>
          <p:cNvSpPr/>
          <p:nvPr/>
        </p:nvSpPr>
        <p:spPr>
          <a:xfrm>
            <a:off x="8339328" y="4700016"/>
            <a:ext cx="3163824" cy="822960"/>
          </a:xfrm>
          <a:prstGeom prst="rect">
            <a:avLst/>
          </a:prstGeom>
          <a:noFill/>
          <a:ln/>
        </p:spPr>
        <p:txBody>
          <a:bodyPr wrap="square" rtlCol="0" anchor="ctr"/>
          <a:lstStyle/>
          <a:p>
            <a:pPr marL="0" indent="0">
              <a:lnSpc>
                <a:spcPts val="1500"/>
              </a:lnSpc>
              <a:buNone/>
            </a:pPr>
            <a:r>
              <a:rPr lang="en-US" sz="1150" dirty="0">
                <a:solidFill>
                  <a:srgbClr val="CADCFC"/>
                </a:solidFill>
                <a:latin typeface="Calibri" pitchFamily="34" charset="0"/>
                <a:ea typeface="Calibri" pitchFamily="34" charset="-122"/>
                <a:cs typeface="Calibri" pitchFamily="34" charset="-120"/>
              </a:rPr>
              <a:t>A weak positive link — more profitable orders skew slightly happier.</a:t>
            </a:r>
            <a:endParaRPr lang="en-US" sz="1150" dirty="0"/>
          </a:p>
        </p:txBody>
      </p:sp>
      <p:sp>
        <p:nvSpPr>
          <p:cNvPr id="28" name="Text 26"/>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8894C4"/>
                </a:solidFill>
                <a:latin typeface="Calibri" pitchFamily="34" charset="0"/>
                <a:ea typeface="Calibri" pitchFamily="34" charset="-122"/>
                <a:cs typeface="Calibri" pitchFamily="34" charset="-120"/>
              </a:rPr>
              <a:t>Section 4 · Correlation Analysis</a:t>
            </a:r>
            <a:endParaRPr lang="en-US" sz="1000" dirty="0"/>
          </a:p>
        </p:txBody>
      </p:sp>
      <p:sp>
        <p:nvSpPr>
          <p:cNvPr id="29" name="Text 27"/>
          <p:cNvSpPr/>
          <p:nvPr/>
        </p:nvSpPr>
        <p:spPr>
          <a:xfrm>
            <a:off x="7589520" y="6537960"/>
            <a:ext cx="4114800" cy="274320"/>
          </a:xfrm>
          <a:prstGeom prst="rect">
            <a:avLst/>
          </a:prstGeom>
          <a:noFill/>
          <a:ln/>
        </p:spPr>
        <p:txBody>
          <a:bodyPr wrap="square" rtlCol="0" anchor="ctr"/>
          <a:lstStyle/>
          <a:p>
            <a:pPr marL="0" indent="0" algn="r">
              <a:buNone/>
            </a:pPr>
            <a:r>
              <a:rPr lang="en-US" sz="1000" dirty="0">
                <a:solidFill>
                  <a:srgbClr val="8894C4"/>
                </a:solidFill>
                <a:latin typeface="Calibri" pitchFamily="34" charset="0"/>
                <a:ea typeface="Calibri" pitchFamily="34" charset="-122"/>
                <a:cs typeface="Calibri" pitchFamily="34" charset="-120"/>
              </a:rPr>
              <a:t>NeoMart Retail Performance Analysis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36576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SUMMARY</a:t>
            </a:r>
            <a:endParaRPr lang="en-US" sz="1200" dirty="0"/>
          </a:p>
        </p:txBody>
      </p:sp>
      <p:sp>
        <p:nvSpPr>
          <p:cNvPr id="3" name="Text 1"/>
          <p:cNvSpPr/>
          <p:nvPr/>
        </p:nvSpPr>
        <p:spPr>
          <a:xfrm>
            <a:off x="548640" y="713232"/>
            <a:ext cx="10515600" cy="548640"/>
          </a:xfrm>
          <a:prstGeom prst="rect">
            <a:avLst/>
          </a:prstGeom>
          <a:noFill/>
          <a:ln/>
        </p:spPr>
        <p:txBody>
          <a:bodyPr wrap="square" rtlCol="0" anchor="ctr"/>
          <a:lstStyle/>
          <a:p>
            <a:pPr marL="0" indent="0">
              <a:buNone/>
            </a:pPr>
            <a:r>
              <a:rPr lang="en-US" sz="2800" b="1" dirty="0">
                <a:solidFill>
                  <a:srgbClr val="141B4D"/>
                </a:solidFill>
                <a:latin typeface="Cambria" pitchFamily="34" charset="0"/>
                <a:ea typeface="Cambria" pitchFamily="34" charset="-122"/>
                <a:cs typeface="Cambria" pitchFamily="34" charset="-120"/>
              </a:rPr>
              <a:t>What the data tells us, at a glance</a:t>
            </a:r>
            <a:endParaRPr lang="en-US" sz="2800" dirty="0"/>
          </a:p>
        </p:txBody>
      </p:sp>
      <p:sp>
        <p:nvSpPr>
          <p:cNvPr id="4" name="Shape 2"/>
          <p:cNvSpPr/>
          <p:nvPr/>
        </p:nvSpPr>
        <p:spPr>
          <a:xfrm>
            <a:off x="548640" y="1508760"/>
            <a:ext cx="3520440" cy="2148840"/>
          </a:xfrm>
          <a:prstGeom prst="roundRect">
            <a:avLst>
              <a:gd name="adj" fmla="val 3404"/>
            </a:avLst>
          </a:prstGeom>
          <a:solidFill>
            <a:srgbClr val="F5F7FC"/>
          </a:solidFill>
          <a:ln w="12700">
            <a:solidFill>
              <a:srgbClr val="E3E7F2"/>
            </a:solidFill>
            <a:prstDash val="solid"/>
          </a:ln>
          <a:effectLst>
            <a:outerShdw blurRad="76200" dist="25400" dir="5400000" algn="bl" rotWithShape="0">
              <a:srgbClr val="1E2761">
                <a:alpha val="10000"/>
              </a:srgbClr>
            </a:outerShdw>
          </a:effectLst>
        </p:spPr>
      </p:sp>
      <p:sp>
        <p:nvSpPr>
          <p:cNvPr id="5" name="Shape 3"/>
          <p:cNvSpPr/>
          <p:nvPr/>
        </p:nvSpPr>
        <p:spPr>
          <a:xfrm>
            <a:off x="749808" y="1709928"/>
            <a:ext cx="502920" cy="502920"/>
          </a:xfrm>
          <a:prstGeom prst="ellipse">
            <a:avLst/>
          </a:prstGeom>
          <a:solidFill>
            <a:srgbClr val="1E2761"/>
          </a:solidFill>
          <a:ln/>
        </p:spPr>
      </p:sp>
      <p:sp>
        <p:nvSpPr>
          <p:cNvPr id="6" name="Text 4"/>
          <p:cNvSpPr/>
          <p:nvPr/>
        </p:nvSpPr>
        <p:spPr>
          <a:xfrm>
            <a:off x="749808" y="1709928"/>
            <a:ext cx="502920" cy="50292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7" name="Text 5"/>
          <p:cNvSpPr/>
          <p:nvPr/>
        </p:nvSpPr>
        <p:spPr>
          <a:xfrm>
            <a:off x="749808" y="2331720"/>
            <a:ext cx="3118104" cy="320040"/>
          </a:xfrm>
          <a:prstGeom prst="rect">
            <a:avLst/>
          </a:prstGeom>
          <a:noFill/>
          <a:ln/>
        </p:spPr>
        <p:txBody>
          <a:bodyPr wrap="square" rtlCol="0" anchor="ctr"/>
          <a:lstStyle/>
          <a:p>
            <a:pPr marL="0" indent="0">
              <a:buNone/>
            </a:pPr>
            <a:r>
              <a:rPr lang="en-US" sz="1450" b="1" dirty="0">
                <a:solidFill>
                  <a:srgbClr val="141B4D"/>
                </a:solidFill>
                <a:latin typeface="Calibri" pitchFamily="34" charset="0"/>
                <a:ea typeface="Calibri" pitchFamily="34" charset="-122"/>
                <a:cs typeface="Calibri" pitchFamily="34" charset="-120"/>
              </a:rPr>
              <a:t>Sales Trend</a:t>
            </a:r>
            <a:endParaRPr lang="en-US" sz="1450" dirty="0"/>
          </a:p>
        </p:txBody>
      </p:sp>
      <p:sp>
        <p:nvSpPr>
          <p:cNvPr id="8" name="Text 6"/>
          <p:cNvSpPr/>
          <p:nvPr/>
        </p:nvSpPr>
        <p:spPr>
          <a:xfrm>
            <a:off x="749808" y="2651760"/>
            <a:ext cx="3118104" cy="914400"/>
          </a:xfrm>
          <a:prstGeom prst="rect">
            <a:avLst/>
          </a:prstGeom>
          <a:noFill/>
          <a:ln/>
        </p:spPr>
        <p:txBody>
          <a:bodyPr wrap="square"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Volatile early, but a strong Aug-Dec recovery pushed December to the year's peak.</a:t>
            </a:r>
            <a:endParaRPr lang="en-US" sz="1150" dirty="0"/>
          </a:p>
        </p:txBody>
      </p:sp>
      <p:sp>
        <p:nvSpPr>
          <p:cNvPr id="9" name="Shape 7"/>
          <p:cNvSpPr/>
          <p:nvPr/>
        </p:nvSpPr>
        <p:spPr>
          <a:xfrm>
            <a:off x="4325112" y="1508760"/>
            <a:ext cx="3520440" cy="2148840"/>
          </a:xfrm>
          <a:prstGeom prst="roundRect">
            <a:avLst>
              <a:gd name="adj" fmla="val 3404"/>
            </a:avLst>
          </a:prstGeom>
          <a:solidFill>
            <a:srgbClr val="F5F7FC"/>
          </a:solidFill>
          <a:ln w="12700">
            <a:solidFill>
              <a:srgbClr val="E3E7F2"/>
            </a:solidFill>
            <a:prstDash val="solid"/>
          </a:ln>
          <a:effectLst>
            <a:outerShdw blurRad="76200" dist="25400" dir="5400000" algn="bl" rotWithShape="0">
              <a:srgbClr val="1E2761">
                <a:alpha val="10000"/>
              </a:srgbClr>
            </a:outerShdw>
          </a:effectLst>
        </p:spPr>
      </p:sp>
      <p:sp>
        <p:nvSpPr>
          <p:cNvPr id="10" name="Shape 8"/>
          <p:cNvSpPr/>
          <p:nvPr/>
        </p:nvSpPr>
        <p:spPr>
          <a:xfrm>
            <a:off x="4526280" y="1709928"/>
            <a:ext cx="502920" cy="502920"/>
          </a:xfrm>
          <a:prstGeom prst="ellipse">
            <a:avLst/>
          </a:prstGeom>
          <a:solidFill>
            <a:srgbClr val="1E2761"/>
          </a:solidFill>
          <a:ln/>
        </p:spPr>
      </p:sp>
      <p:sp>
        <p:nvSpPr>
          <p:cNvPr id="11" name="Text 9"/>
          <p:cNvSpPr/>
          <p:nvPr/>
        </p:nvSpPr>
        <p:spPr>
          <a:xfrm>
            <a:off x="4526280" y="1709928"/>
            <a:ext cx="502920" cy="50292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2" name="Text 10"/>
          <p:cNvSpPr/>
          <p:nvPr/>
        </p:nvSpPr>
        <p:spPr>
          <a:xfrm>
            <a:off x="4526280" y="2331720"/>
            <a:ext cx="3118104" cy="320040"/>
          </a:xfrm>
          <a:prstGeom prst="rect">
            <a:avLst/>
          </a:prstGeom>
          <a:noFill/>
          <a:ln/>
        </p:spPr>
        <p:txBody>
          <a:bodyPr wrap="square" rtlCol="0" anchor="ctr"/>
          <a:lstStyle/>
          <a:p>
            <a:pPr marL="0" indent="0">
              <a:buNone/>
            </a:pPr>
            <a:r>
              <a:rPr lang="en-US" sz="1450" b="1" dirty="0">
                <a:solidFill>
                  <a:srgbClr val="141B4D"/>
                </a:solidFill>
                <a:latin typeface="Calibri" pitchFamily="34" charset="0"/>
                <a:ea typeface="Calibri" pitchFamily="34" charset="-122"/>
                <a:cs typeface="Calibri" pitchFamily="34" charset="-120"/>
              </a:rPr>
              <a:t>Regional Performance</a:t>
            </a:r>
            <a:endParaRPr lang="en-US" sz="1450" dirty="0"/>
          </a:p>
        </p:txBody>
      </p:sp>
      <p:sp>
        <p:nvSpPr>
          <p:cNvPr id="13" name="Text 11"/>
          <p:cNvSpPr/>
          <p:nvPr/>
        </p:nvSpPr>
        <p:spPr>
          <a:xfrm>
            <a:off x="4526280" y="2651760"/>
            <a:ext cx="3118104" cy="914400"/>
          </a:xfrm>
          <a:prstGeom prst="rect">
            <a:avLst/>
          </a:prstGeom>
          <a:noFill/>
          <a:ln/>
        </p:spPr>
        <p:txBody>
          <a:bodyPr wrap="square"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South leads on revenue; East lags and needs demand-building.</a:t>
            </a:r>
            <a:endParaRPr lang="en-US" sz="1150" dirty="0"/>
          </a:p>
        </p:txBody>
      </p:sp>
      <p:sp>
        <p:nvSpPr>
          <p:cNvPr id="14" name="Shape 12"/>
          <p:cNvSpPr/>
          <p:nvPr/>
        </p:nvSpPr>
        <p:spPr>
          <a:xfrm>
            <a:off x="8101584" y="1508760"/>
            <a:ext cx="3520440" cy="2148840"/>
          </a:xfrm>
          <a:prstGeom prst="roundRect">
            <a:avLst>
              <a:gd name="adj" fmla="val 3404"/>
            </a:avLst>
          </a:prstGeom>
          <a:solidFill>
            <a:srgbClr val="F5F7FC"/>
          </a:solidFill>
          <a:ln w="12700">
            <a:solidFill>
              <a:srgbClr val="E3E7F2"/>
            </a:solidFill>
            <a:prstDash val="solid"/>
          </a:ln>
          <a:effectLst>
            <a:outerShdw blurRad="76200" dist="25400" dir="5400000" algn="bl" rotWithShape="0">
              <a:srgbClr val="1E2761">
                <a:alpha val="10000"/>
              </a:srgbClr>
            </a:outerShdw>
          </a:effectLst>
        </p:spPr>
      </p:sp>
      <p:sp>
        <p:nvSpPr>
          <p:cNvPr id="15" name="Shape 13"/>
          <p:cNvSpPr/>
          <p:nvPr/>
        </p:nvSpPr>
        <p:spPr>
          <a:xfrm>
            <a:off x="8302752" y="1709928"/>
            <a:ext cx="502920" cy="502920"/>
          </a:xfrm>
          <a:prstGeom prst="ellipse">
            <a:avLst/>
          </a:prstGeom>
          <a:solidFill>
            <a:srgbClr val="1E2761"/>
          </a:solidFill>
          <a:ln/>
        </p:spPr>
      </p:sp>
      <p:sp>
        <p:nvSpPr>
          <p:cNvPr id="16" name="Text 14"/>
          <p:cNvSpPr/>
          <p:nvPr/>
        </p:nvSpPr>
        <p:spPr>
          <a:xfrm>
            <a:off x="8302752" y="1709928"/>
            <a:ext cx="502920" cy="50292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17" name="Text 15"/>
          <p:cNvSpPr/>
          <p:nvPr/>
        </p:nvSpPr>
        <p:spPr>
          <a:xfrm>
            <a:off x="8302752" y="2331720"/>
            <a:ext cx="3118104" cy="320040"/>
          </a:xfrm>
          <a:prstGeom prst="rect">
            <a:avLst/>
          </a:prstGeom>
          <a:noFill/>
          <a:ln/>
        </p:spPr>
        <p:txBody>
          <a:bodyPr wrap="square" rtlCol="0" anchor="ctr"/>
          <a:lstStyle/>
          <a:p>
            <a:pPr marL="0" indent="0">
              <a:buNone/>
            </a:pPr>
            <a:r>
              <a:rPr lang="en-US" sz="1450" b="1" dirty="0">
                <a:solidFill>
                  <a:srgbClr val="141B4D"/>
                </a:solidFill>
                <a:latin typeface="Calibri" pitchFamily="34" charset="0"/>
                <a:ea typeface="Calibri" pitchFamily="34" charset="-122"/>
                <a:cs typeface="Calibri" pitchFamily="34" charset="-120"/>
              </a:rPr>
              <a:t>Product Profitability</a:t>
            </a:r>
            <a:endParaRPr lang="en-US" sz="1450" dirty="0"/>
          </a:p>
        </p:txBody>
      </p:sp>
      <p:sp>
        <p:nvSpPr>
          <p:cNvPr id="18" name="Text 16"/>
          <p:cNvSpPr/>
          <p:nvPr/>
        </p:nvSpPr>
        <p:spPr>
          <a:xfrm>
            <a:off x="8302752" y="2651760"/>
            <a:ext cx="3118104" cy="914400"/>
          </a:xfrm>
          <a:prstGeom prst="rect">
            <a:avLst/>
          </a:prstGeom>
          <a:noFill/>
          <a:ln/>
        </p:spPr>
        <p:txBody>
          <a:bodyPr wrap="square"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Electronics is the top earner; Furniture trails the pack.</a:t>
            </a:r>
            <a:endParaRPr lang="en-US" sz="1150" dirty="0"/>
          </a:p>
        </p:txBody>
      </p:sp>
      <p:sp>
        <p:nvSpPr>
          <p:cNvPr id="19" name="Shape 17"/>
          <p:cNvSpPr/>
          <p:nvPr/>
        </p:nvSpPr>
        <p:spPr>
          <a:xfrm>
            <a:off x="548640" y="3913632"/>
            <a:ext cx="3520440" cy="2148840"/>
          </a:xfrm>
          <a:prstGeom prst="roundRect">
            <a:avLst>
              <a:gd name="adj" fmla="val 3404"/>
            </a:avLst>
          </a:prstGeom>
          <a:solidFill>
            <a:srgbClr val="F5F7FC"/>
          </a:solidFill>
          <a:ln w="12700">
            <a:solidFill>
              <a:srgbClr val="E3E7F2"/>
            </a:solidFill>
            <a:prstDash val="solid"/>
          </a:ln>
          <a:effectLst>
            <a:outerShdw blurRad="76200" dist="25400" dir="5400000" algn="bl" rotWithShape="0">
              <a:srgbClr val="1E2761">
                <a:alpha val="10000"/>
              </a:srgbClr>
            </a:outerShdw>
          </a:effectLst>
        </p:spPr>
      </p:sp>
      <p:sp>
        <p:nvSpPr>
          <p:cNvPr id="20" name="Shape 18"/>
          <p:cNvSpPr/>
          <p:nvPr/>
        </p:nvSpPr>
        <p:spPr>
          <a:xfrm>
            <a:off x="749808" y="4114800"/>
            <a:ext cx="502920" cy="502920"/>
          </a:xfrm>
          <a:prstGeom prst="ellipse">
            <a:avLst/>
          </a:prstGeom>
          <a:solidFill>
            <a:srgbClr val="1E2761"/>
          </a:solidFill>
          <a:ln/>
        </p:spPr>
      </p:sp>
      <p:sp>
        <p:nvSpPr>
          <p:cNvPr id="21" name="Text 19"/>
          <p:cNvSpPr/>
          <p:nvPr/>
        </p:nvSpPr>
        <p:spPr>
          <a:xfrm>
            <a:off x="749808" y="4114800"/>
            <a:ext cx="502920" cy="50292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2" name="Text 20"/>
          <p:cNvSpPr/>
          <p:nvPr/>
        </p:nvSpPr>
        <p:spPr>
          <a:xfrm>
            <a:off x="749808" y="4736592"/>
            <a:ext cx="3118104" cy="320040"/>
          </a:xfrm>
          <a:prstGeom prst="rect">
            <a:avLst/>
          </a:prstGeom>
          <a:noFill/>
          <a:ln/>
        </p:spPr>
        <p:txBody>
          <a:bodyPr wrap="square" rtlCol="0" anchor="ctr"/>
          <a:lstStyle/>
          <a:p>
            <a:pPr marL="0" indent="0">
              <a:buNone/>
            </a:pPr>
            <a:r>
              <a:rPr lang="en-US" sz="1450" b="1" dirty="0">
                <a:solidFill>
                  <a:srgbClr val="141B4D"/>
                </a:solidFill>
                <a:latin typeface="Calibri" pitchFamily="34" charset="0"/>
                <a:ea typeface="Calibri" pitchFamily="34" charset="-122"/>
                <a:cs typeface="Calibri" pitchFamily="34" charset="-120"/>
              </a:rPr>
              <a:t>Discount Impact</a:t>
            </a:r>
            <a:endParaRPr lang="en-US" sz="1450" dirty="0"/>
          </a:p>
        </p:txBody>
      </p:sp>
      <p:sp>
        <p:nvSpPr>
          <p:cNvPr id="23" name="Text 21"/>
          <p:cNvSpPr/>
          <p:nvPr/>
        </p:nvSpPr>
        <p:spPr>
          <a:xfrm>
            <a:off x="749808" y="5056632"/>
            <a:ext cx="3118104" cy="914400"/>
          </a:xfrm>
          <a:prstGeom prst="rect">
            <a:avLst/>
          </a:prstGeom>
          <a:noFill/>
          <a:ln/>
        </p:spPr>
        <p:txBody>
          <a:bodyPr wrap="square"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Heavier discounting is measurably eroding profit margins.</a:t>
            </a:r>
            <a:endParaRPr lang="en-US" sz="1150" dirty="0"/>
          </a:p>
        </p:txBody>
      </p:sp>
      <p:sp>
        <p:nvSpPr>
          <p:cNvPr id="24" name="Shape 22"/>
          <p:cNvSpPr/>
          <p:nvPr/>
        </p:nvSpPr>
        <p:spPr>
          <a:xfrm>
            <a:off x="4325112" y="3913632"/>
            <a:ext cx="3520440" cy="2148840"/>
          </a:xfrm>
          <a:prstGeom prst="roundRect">
            <a:avLst>
              <a:gd name="adj" fmla="val 3404"/>
            </a:avLst>
          </a:prstGeom>
          <a:solidFill>
            <a:srgbClr val="F5F7FC"/>
          </a:solidFill>
          <a:ln w="12700">
            <a:solidFill>
              <a:srgbClr val="E3E7F2"/>
            </a:solidFill>
            <a:prstDash val="solid"/>
          </a:ln>
          <a:effectLst>
            <a:outerShdw blurRad="76200" dist="25400" dir="5400000" algn="bl" rotWithShape="0">
              <a:srgbClr val="1E2761">
                <a:alpha val="10000"/>
              </a:srgbClr>
            </a:outerShdw>
          </a:effectLst>
        </p:spPr>
      </p:sp>
      <p:sp>
        <p:nvSpPr>
          <p:cNvPr id="25" name="Shape 23"/>
          <p:cNvSpPr/>
          <p:nvPr/>
        </p:nvSpPr>
        <p:spPr>
          <a:xfrm>
            <a:off x="4526280" y="4114800"/>
            <a:ext cx="502920" cy="502920"/>
          </a:xfrm>
          <a:prstGeom prst="ellipse">
            <a:avLst/>
          </a:prstGeom>
          <a:solidFill>
            <a:srgbClr val="1E2761"/>
          </a:solidFill>
          <a:ln/>
        </p:spPr>
      </p:sp>
      <p:sp>
        <p:nvSpPr>
          <p:cNvPr id="26" name="Text 24"/>
          <p:cNvSpPr/>
          <p:nvPr/>
        </p:nvSpPr>
        <p:spPr>
          <a:xfrm>
            <a:off x="4526280" y="4114800"/>
            <a:ext cx="502920" cy="50292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27" name="Text 25"/>
          <p:cNvSpPr/>
          <p:nvPr/>
        </p:nvSpPr>
        <p:spPr>
          <a:xfrm>
            <a:off x="4526280" y="4736592"/>
            <a:ext cx="3118104" cy="320040"/>
          </a:xfrm>
          <a:prstGeom prst="rect">
            <a:avLst/>
          </a:prstGeom>
          <a:noFill/>
          <a:ln/>
        </p:spPr>
        <p:txBody>
          <a:bodyPr wrap="square" rtlCol="0" anchor="ctr"/>
          <a:lstStyle/>
          <a:p>
            <a:pPr marL="0" indent="0">
              <a:buNone/>
            </a:pPr>
            <a:r>
              <a:rPr lang="en-US" sz="1450" b="1" dirty="0">
                <a:solidFill>
                  <a:srgbClr val="141B4D"/>
                </a:solidFill>
                <a:latin typeface="Calibri" pitchFamily="34" charset="0"/>
                <a:ea typeface="Calibri" pitchFamily="34" charset="-122"/>
                <a:cs typeface="Calibri" pitchFamily="34" charset="-120"/>
              </a:rPr>
              <a:t>Customer Satisfaction</a:t>
            </a:r>
            <a:endParaRPr lang="en-US" sz="1450" dirty="0"/>
          </a:p>
        </p:txBody>
      </p:sp>
      <p:sp>
        <p:nvSpPr>
          <p:cNvPr id="28" name="Text 26"/>
          <p:cNvSpPr/>
          <p:nvPr/>
        </p:nvSpPr>
        <p:spPr>
          <a:xfrm>
            <a:off x="4526280" y="5056632"/>
            <a:ext cx="3118104" cy="914400"/>
          </a:xfrm>
          <a:prstGeom prst="rect">
            <a:avLst/>
          </a:prstGeom>
          <a:noFill/>
          <a:ln/>
        </p:spPr>
        <p:txBody>
          <a:bodyPr wrap="square"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Strong and steady outside the South, which lags noticeably.</a:t>
            </a:r>
            <a:endParaRPr lang="en-US" sz="1150" dirty="0"/>
          </a:p>
        </p:txBody>
      </p:sp>
      <p:sp>
        <p:nvSpPr>
          <p:cNvPr id="29" name="Shape 27"/>
          <p:cNvSpPr/>
          <p:nvPr/>
        </p:nvSpPr>
        <p:spPr>
          <a:xfrm>
            <a:off x="8101584" y="3913632"/>
            <a:ext cx="3520440" cy="2148840"/>
          </a:xfrm>
          <a:prstGeom prst="roundRect">
            <a:avLst>
              <a:gd name="adj" fmla="val 3404"/>
            </a:avLst>
          </a:prstGeom>
          <a:solidFill>
            <a:srgbClr val="F5F7FC"/>
          </a:solidFill>
          <a:ln w="12700">
            <a:solidFill>
              <a:srgbClr val="E3E7F2"/>
            </a:solidFill>
            <a:prstDash val="solid"/>
          </a:ln>
          <a:effectLst>
            <a:outerShdw blurRad="76200" dist="25400" dir="5400000" algn="bl" rotWithShape="0">
              <a:srgbClr val="1E2761">
                <a:alpha val="10000"/>
              </a:srgbClr>
            </a:outerShdw>
          </a:effectLst>
        </p:spPr>
      </p:sp>
      <p:sp>
        <p:nvSpPr>
          <p:cNvPr id="30" name="Shape 28"/>
          <p:cNvSpPr/>
          <p:nvPr/>
        </p:nvSpPr>
        <p:spPr>
          <a:xfrm>
            <a:off x="8302752" y="4114800"/>
            <a:ext cx="502920" cy="502920"/>
          </a:xfrm>
          <a:prstGeom prst="ellipse">
            <a:avLst/>
          </a:prstGeom>
          <a:solidFill>
            <a:srgbClr val="1E2761"/>
          </a:solidFill>
          <a:ln/>
        </p:spPr>
      </p:sp>
      <p:sp>
        <p:nvSpPr>
          <p:cNvPr id="31" name="Text 29"/>
          <p:cNvSpPr/>
          <p:nvPr/>
        </p:nvSpPr>
        <p:spPr>
          <a:xfrm>
            <a:off x="8302752" y="4114800"/>
            <a:ext cx="502920" cy="502920"/>
          </a:xfrm>
          <a:prstGeom prst="rect">
            <a:avLst/>
          </a:prstGeom>
          <a:noFill/>
          <a:ln/>
        </p:spPr>
        <p:txBody>
          <a:bodyPr wrap="square" rtlCol="0" anchor="ctr"/>
          <a:lstStyle/>
          <a:p>
            <a:pPr marL="0" indent="0" algn="ctr">
              <a:buNone/>
            </a:pPr>
            <a:r>
              <a:rPr lang="en-US" sz="2000" dirty="0">
                <a:solidFill>
                  <a:srgbClr val="000000"/>
                </a:solidFill>
              </a:rPr>
              <a:t>🚚</a:t>
            </a:r>
            <a:endParaRPr lang="en-US" sz="2000" dirty="0"/>
          </a:p>
        </p:txBody>
      </p:sp>
      <p:sp>
        <p:nvSpPr>
          <p:cNvPr id="32" name="Text 30"/>
          <p:cNvSpPr/>
          <p:nvPr/>
        </p:nvSpPr>
        <p:spPr>
          <a:xfrm>
            <a:off x="8302752" y="4736592"/>
            <a:ext cx="3118104" cy="320040"/>
          </a:xfrm>
          <a:prstGeom prst="rect">
            <a:avLst/>
          </a:prstGeom>
          <a:noFill/>
          <a:ln/>
        </p:spPr>
        <p:txBody>
          <a:bodyPr wrap="square" rtlCol="0" anchor="ctr"/>
          <a:lstStyle/>
          <a:p>
            <a:pPr marL="0" indent="0">
              <a:buNone/>
            </a:pPr>
            <a:r>
              <a:rPr lang="en-US" sz="1450" b="1" dirty="0">
                <a:solidFill>
                  <a:srgbClr val="141B4D"/>
                </a:solidFill>
                <a:latin typeface="Calibri" pitchFamily="34" charset="0"/>
                <a:ea typeface="Calibri" pitchFamily="34" charset="-122"/>
                <a:cs typeface="Calibri" pitchFamily="34" charset="-120"/>
              </a:rPr>
              <a:t>Delivery Performance</a:t>
            </a:r>
            <a:endParaRPr lang="en-US" sz="1450" dirty="0"/>
          </a:p>
        </p:txBody>
      </p:sp>
      <p:sp>
        <p:nvSpPr>
          <p:cNvPr id="33" name="Text 31"/>
          <p:cNvSpPr/>
          <p:nvPr/>
        </p:nvSpPr>
        <p:spPr>
          <a:xfrm>
            <a:off x="8302752" y="5056632"/>
            <a:ext cx="3118104" cy="914400"/>
          </a:xfrm>
          <a:prstGeom prst="rect">
            <a:avLst/>
          </a:prstGeom>
          <a:noFill/>
          <a:ln/>
        </p:spPr>
        <p:txBody>
          <a:bodyPr wrap="square"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South's slow, inconsistent delivery times are the likely satisfaction culprit.</a:t>
            </a:r>
            <a:endParaRPr lang="en-US" sz="1150" dirty="0"/>
          </a:p>
        </p:txBody>
      </p:sp>
      <p:sp>
        <p:nvSpPr>
          <p:cNvPr id="34" name="Text 32"/>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9AA3B5"/>
                </a:solidFill>
                <a:latin typeface="Calibri" pitchFamily="34" charset="0"/>
                <a:ea typeface="Calibri" pitchFamily="34" charset="-122"/>
                <a:cs typeface="Calibri" pitchFamily="34" charset="-120"/>
              </a:rPr>
              <a:t>Section 3 · Key Findings</a:t>
            </a:r>
            <a:endParaRPr lang="en-US" sz="1000" dirty="0"/>
          </a:p>
        </p:txBody>
      </p:sp>
      <p:sp>
        <p:nvSpPr>
          <p:cNvPr id="35" name="Text 33"/>
          <p:cNvSpPr/>
          <p:nvPr/>
        </p:nvSpPr>
        <p:spPr>
          <a:xfrm>
            <a:off x="7589520" y="6537960"/>
            <a:ext cx="4114800" cy="274320"/>
          </a:xfrm>
          <a:prstGeom prst="rect">
            <a:avLst/>
          </a:prstGeom>
          <a:noFill/>
          <a:ln/>
        </p:spPr>
        <p:txBody>
          <a:bodyPr wrap="square" rtlCol="0" anchor="ctr"/>
          <a:lstStyle/>
          <a:p>
            <a:pPr marL="0" indent="0" algn="r">
              <a:buNone/>
            </a:pPr>
            <a:r>
              <a:rPr lang="en-US" sz="1000" dirty="0">
                <a:solidFill>
                  <a:srgbClr val="9AA3B5"/>
                </a:solidFill>
                <a:latin typeface="Calibri" pitchFamily="34" charset="0"/>
                <a:ea typeface="Calibri" pitchFamily="34" charset="-122"/>
                <a:cs typeface="Calibri" pitchFamily="34" charset="-120"/>
              </a:rPr>
              <a:t>NeoMart Retail Performance Analysis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36576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RESOLUTION</a:t>
            </a:r>
            <a:endParaRPr lang="en-US" sz="1200" dirty="0"/>
          </a:p>
        </p:txBody>
      </p:sp>
      <p:sp>
        <p:nvSpPr>
          <p:cNvPr id="3" name="Text 1"/>
          <p:cNvSpPr/>
          <p:nvPr/>
        </p:nvSpPr>
        <p:spPr>
          <a:xfrm>
            <a:off x="548640" y="713232"/>
            <a:ext cx="10515600" cy="548640"/>
          </a:xfrm>
          <a:prstGeom prst="rect">
            <a:avLst/>
          </a:prstGeom>
          <a:noFill/>
          <a:ln/>
        </p:spPr>
        <p:txBody>
          <a:bodyPr wrap="square" rtlCol="0" anchor="ctr"/>
          <a:lstStyle/>
          <a:p>
            <a:pPr marL="0" indent="0">
              <a:buNone/>
            </a:pPr>
            <a:r>
              <a:rPr lang="en-US" sz="2700" b="1" dirty="0">
                <a:solidFill>
                  <a:srgbClr val="141B4D"/>
                </a:solidFill>
                <a:latin typeface="Cambria" pitchFamily="34" charset="0"/>
                <a:ea typeface="Cambria" pitchFamily="34" charset="-122"/>
                <a:cs typeface="Cambria" pitchFamily="34" charset="-120"/>
              </a:rPr>
              <a:t>Five moves to turn insight into performance</a:t>
            </a:r>
            <a:endParaRPr lang="en-US" sz="2700" dirty="0"/>
          </a:p>
        </p:txBody>
      </p:sp>
      <p:sp>
        <p:nvSpPr>
          <p:cNvPr id="4" name="Shape 2"/>
          <p:cNvSpPr/>
          <p:nvPr/>
        </p:nvSpPr>
        <p:spPr>
          <a:xfrm>
            <a:off x="548640" y="1508760"/>
            <a:ext cx="10881360" cy="777240"/>
          </a:xfrm>
          <a:prstGeom prst="roundRect">
            <a:avLst>
              <a:gd name="adj" fmla="val 8235"/>
            </a:avLst>
          </a:prstGeom>
          <a:solidFill>
            <a:srgbClr val="F5F7FC"/>
          </a:solidFill>
          <a:ln w="12700">
            <a:solidFill>
              <a:srgbClr val="E3E7F2"/>
            </a:solidFill>
            <a:prstDash val="solid"/>
          </a:ln>
        </p:spPr>
      </p:sp>
      <p:sp>
        <p:nvSpPr>
          <p:cNvPr id="5" name="Shape 3"/>
          <p:cNvSpPr/>
          <p:nvPr/>
        </p:nvSpPr>
        <p:spPr>
          <a:xfrm>
            <a:off x="713232" y="1609344"/>
            <a:ext cx="594360" cy="576072"/>
          </a:xfrm>
          <a:prstGeom prst="roundRect">
            <a:avLst>
              <a:gd name="adj" fmla="val 9524"/>
            </a:avLst>
          </a:prstGeom>
          <a:solidFill>
            <a:srgbClr val="1E2761"/>
          </a:solidFill>
          <a:ln/>
        </p:spPr>
      </p:sp>
      <p:sp>
        <p:nvSpPr>
          <p:cNvPr id="6" name="Text 4"/>
          <p:cNvSpPr/>
          <p:nvPr/>
        </p:nvSpPr>
        <p:spPr>
          <a:xfrm>
            <a:off x="713232" y="1609344"/>
            <a:ext cx="594360" cy="576072"/>
          </a:xfrm>
          <a:prstGeom prst="rect">
            <a:avLst/>
          </a:prstGeom>
          <a:noFill/>
          <a:ln/>
        </p:spPr>
        <p:txBody>
          <a:bodyPr wrap="square" rtlCol="0" anchor="ctr"/>
          <a:lstStyle/>
          <a:p>
            <a:pPr marL="0" indent="0" algn="ctr">
              <a:buNone/>
            </a:pPr>
            <a:r>
              <a:rPr lang="en-US" sz="1600" b="1" dirty="0">
                <a:solidFill>
                  <a:srgbClr val="E8B84B"/>
                </a:solidFill>
                <a:latin typeface="Cambria" pitchFamily="34" charset="0"/>
                <a:ea typeface="Cambria" pitchFamily="34" charset="-122"/>
                <a:cs typeface="Cambria" pitchFamily="34" charset="-120"/>
              </a:rPr>
              <a:t>01</a:t>
            </a:r>
            <a:endParaRPr lang="en-US" sz="1600" dirty="0"/>
          </a:p>
        </p:txBody>
      </p:sp>
      <p:sp>
        <p:nvSpPr>
          <p:cNvPr id="7" name="Text 5"/>
          <p:cNvSpPr/>
          <p:nvPr/>
        </p:nvSpPr>
        <p:spPr>
          <a:xfrm>
            <a:off x="1508760" y="1581912"/>
            <a:ext cx="3200400" cy="630936"/>
          </a:xfrm>
          <a:prstGeom prst="rect">
            <a:avLst/>
          </a:prstGeom>
          <a:noFill/>
          <a:ln/>
        </p:spPr>
        <p:txBody>
          <a:bodyPr wrap="square" rtlCol="0" anchor="ctr"/>
          <a:lstStyle/>
          <a:p>
            <a:pPr marL="0" indent="0">
              <a:buNone/>
            </a:pPr>
            <a:r>
              <a:rPr lang="en-US" sz="1350" b="1" dirty="0">
                <a:solidFill>
                  <a:srgbClr val="141B4D"/>
                </a:solidFill>
                <a:latin typeface="Calibri" pitchFamily="34" charset="0"/>
                <a:ea typeface="Calibri" pitchFamily="34" charset="-122"/>
                <a:cs typeface="Calibri" pitchFamily="34" charset="-120"/>
              </a:rPr>
              <a:t>Review the Discount Strategy</a:t>
            </a:r>
            <a:endParaRPr lang="en-US" sz="1350" dirty="0"/>
          </a:p>
        </p:txBody>
      </p:sp>
      <p:sp>
        <p:nvSpPr>
          <p:cNvPr id="8" name="Text 6"/>
          <p:cNvSpPr/>
          <p:nvPr/>
        </p:nvSpPr>
        <p:spPr>
          <a:xfrm>
            <a:off x="4846320" y="1581912"/>
            <a:ext cx="6400800" cy="630936"/>
          </a:xfrm>
          <a:prstGeom prst="rect">
            <a:avLst/>
          </a:prstGeom>
          <a:noFill/>
          <a:ln/>
        </p:spPr>
        <p:txBody>
          <a:bodyPr wrap="square" rtlCol="0" anchor="ctr"/>
          <a:lstStyle/>
          <a:p>
            <a:pPr marL="0" indent="0">
              <a:lnSpc>
                <a:spcPts val="1500"/>
              </a:lnSpc>
              <a:buNone/>
            </a:pPr>
            <a:r>
              <a:rPr lang="en-US" sz="1200" dirty="0">
                <a:solidFill>
                  <a:srgbClr val="6B7280"/>
                </a:solidFill>
                <a:latin typeface="Calibri" pitchFamily="34" charset="0"/>
                <a:ea typeface="Calibri" pitchFamily="34" charset="-122"/>
                <a:cs typeface="Calibri" pitchFamily="34" charset="-120"/>
              </a:rPr>
              <a:t>Cut unnecessary discounting; shift to targeted promotions that protect margin while still driving sales.</a:t>
            </a:r>
            <a:endParaRPr lang="en-US" sz="1200" dirty="0"/>
          </a:p>
        </p:txBody>
      </p:sp>
      <p:sp>
        <p:nvSpPr>
          <p:cNvPr id="9" name="Shape 7"/>
          <p:cNvSpPr/>
          <p:nvPr/>
        </p:nvSpPr>
        <p:spPr>
          <a:xfrm>
            <a:off x="548640" y="2423160"/>
            <a:ext cx="10881360" cy="777240"/>
          </a:xfrm>
          <a:prstGeom prst="roundRect">
            <a:avLst>
              <a:gd name="adj" fmla="val 8235"/>
            </a:avLst>
          </a:prstGeom>
          <a:solidFill>
            <a:srgbClr val="F5F7FC"/>
          </a:solidFill>
          <a:ln w="12700">
            <a:solidFill>
              <a:srgbClr val="E3E7F2"/>
            </a:solidFill>
            <a:prstDash val="solid"/>
          </a:ln>
        </p:spPr>
      </p:sp>
      <p:sp>
        <p:nvSpPr>
          <p:cNvPr id="10" name="Shape 8"/>
          <p:cNvSpPr/>
          <p:nvPr/>
        </p:nvSpPr>
        <p:spPr>
          <a:xfrm>
            <a:off x="713232" y="2523744"/>
            <a:ext cx="594360" cy="576072"/>
          </a:xfrm>
          <a:prstGeom prst="roundRect">
            <a:avLst>
              <a:gd name="adj" fmla="val 9524"/>
            </a:avLst>
          </a:prstGeom>
          <a:solidFill>
            <a:srgbClr val="1E2761"/>
          </a:solidFill>
          <a:ln/>
        </p:spPr>
      </p:sp>
      <p:sp>
        <p:nvSpPr>
          <p:cNvPr id="11" name="Text 9"/>
          <p:cNvSpPr/>
          <p:nvPr/>
        </p:nvSpPr>
        <p:spPr>
          <a:xfrm>
            <a:off x="713232" y="2523744"/>
            <a:ext cx="594360" cy="576072"/>
          </a:xfrm>
          <a:prstGeom prst="rect">
            <a:avLst/>
          </a:prstGeom>
          <a:noFill/>
          <a:ln/>
        </p:spPr>
        <p:txBody>
          <a:bodyPr wrap="square" rtlCol="0" anchor="ctr"/>
          <a:lstStyle/>
          <a:p>
            <a:pPr marL="0" indent="0" algn="ctr">
              <a:buNone/>
            </a:pPr>
            <a:r>
              <a:rPr lang="en-US" sz="1600" b="1" dirty="0">
                <a:solidFill>
                  <a:srgbClr val="E8B84B"/>
                </a:solidFill>
                <a:latin typeface="Cambria" pitchFamily="34" charset="0"/>
                <a:ea typeface="Cambria" pitchFamily="34" charset="-122"/>
                <a:cs typeface="Cambria" pitchFamily="34" charset="-120"/>
              </a:rPr>
              <a:t>02</a:t>
            </a:r>
            <a:endParaRPr lang="en-US" sz="1600" dirty="0"/>
          </a:p>
        </p:txBody>
      </p:sp>
      <p:sp>
        <p:nvSpPr>
          <p:cNvPr id="12" name="Text 10"/>
          <p:cNvSpPr/>
          <p:nvPr/>
        </p:nvSpPr>
        <p:spPr>
          <a:xfrm>
            <a:off x="1508760" y="2496312"/>
            <a:ext cx="3200400" cy="630936"/>
          </a:xfrm>
          <a:prstGeom prst="rect">
            <a:avLst/>
          </a:prstGeom>
          <a:noFill/>
          <a:ln/>
        </p:spPr>
        <p:txBody>
          <a:bodyPr wrap="square" rtlCol="0" anchor="ctr"/>
          <a:lstStyle/>
          <a:p>
            <a:pPr marL="0" indent="0">
              <a:buNone/>
            </a:pPr>
            <a:r>
              <a:rPr lang="en-US" sz="1350" b="1" dirty="0">
                <a:solidFill>
                  <a:srgbClr val="141B4D"/>
                </a:solidFill>
                <a:latin typeface="Calibri" pitchFamily="34" charset="0"/>
                <a:ea typeface="Calibri" pitchFamily="34" charset="-122"/>
                <a:cs typeface="Calibri" pitchFamily="34" charset="-120"/>
              </a:rPr>
              <a:t>Fix South Region Delivery</a:t>
            </a:r>
            <a:endParaRPr lang="en-US" sz="1350" dirty="0"/>
          </a:p>
        </p:txBody>
      </p:sp>
      <p:sp>
        <p:nvSpPr>
          <p:cNvPr id="13" name="Text 11"/>
          <p:cNvSpPr/>
          <p:nvPr/>
        </p:nvSpPr>
        <p:spPr>
          <a:xfrm>
            <a:off x="4846320" y="2496312"/>
            <a:ext cx="6400800" cy="630936"/>
          </a:xfrm>
          <a:prstGeom prst="rect">
            <a:avLst/>
          </a:prstGeom>
          <a:noFill/>
          <a:ln/>
        </p:spPr>
        <p:txBody>
          <a:bodyPr wrap="square" rtlCol="0" anchor="ctr"/>
          <a:lstStyle/>
          <a:p>
            <a:pPr marL="0" indent="0">
              <a:lnSpc>
                <a:spcPts val="1500"/>
              </a:lnSpc>
              <a:buNone/>
            </a:pPr>
            <a:r>
              <a:rPr lang="en-US" sz="1200" dirty="0">
                <a:solidFill>
                  <a:srgbClr val="6B7280"/>
                </a:solidFill>
                <a:latin typeface="Calibri" pitchFamily="34" charset="0"/>
                <a:ea typeface="Calibri" pitchFamily="34" charset="-122"/>
                <a:cs typeface="Calibri" pitchFamily="34" charset="-120"/>
              </a:rPr>
              <a:t>Audit logistics, warehousing, and transport to close the delivery-time gap and lift satisfaction.</a:t>
            </a:r>
            <a:endParaRPr lang="en-US" sz="1200" dirty="0"/>
          </a:p>
        </p:txBody>
      </p:sp>
      <p:sp>
        <p:nvSpPr>
          <p:cNvPr id="14" name="Shape 12"/>
          <p:cNvSpPr/>
          <p:nvPr/>
        </p:nvSpPr>
        <p:spPr>
          <a:xfrm>
            <a:off x="548640" y="3337560"/>
            <a:ext cx="10881360" cy="777240"/>
          </a:xfrm>
          <a:prstGeom prst="roundRect">
            <a:avLst>
              <a:gd name="adj" fmla="val 8235"/>
            </a:avLst>
          </a:prstGeom>
          <a:solidFill>
            <a:srgbClr val="F5F7FC"/>
          </a:solidFill>
          <a:ln w="12700">
            <a:solidFill>
              <a:srgbClr val="E3E7F2"/>
            </a:solidFill>
            <a:prstDash val="solid"/>
          </a:ln>
        </p:spPr>
      </p:sp>
      <p:sp>
        <p:nvSpPr>
          <p:cNvPr id="15" name="Shape 13"/>
          <p:cNvSpPr/>
          <p:nvPr/>
        </p:nvSpPr>
        <p:spPr>
          <a:xfrm>
            <a:off x="713232" y="3438144"/>
            <a:ext cx="594360" cy="576072"/>
          </a:xfrm>
          <a:prstGeom prst="roundRect">
            <a:avLst>
              <a:gd name="adj" fmla="val 9524"/>
            </a:avLst>
          </a:prstGeom>
          <a:solidFill>
            <a:srgbClr val="1E2761"/>
          </a:solidFill>
          <a:ln/>
        </p:spPr>
      </p:sp>
      <p:sp>
        <p:nvSpPr>
          <p:cNvPr id="16" name="Text 14"/>
          <p:cNvSpPr/>
          <p:nvPr/>
        </p:nvSpPr>
        <p:spPr>
          <a:xfrm>
            <a:off x="713232" y="3438144"/>
            <a:ext cx="594360" cy="576072"/>
          </a:xfrm>
          <a:prstGeom prst="rect">
            <a:avLst/>
          </a:prstGeom>
          <a:noFill/>
          <a:ln/>
        </p:spPr>
        <p:txBody>
          <a:bodyPr wrap="square" rtlCol="0" anchor="ctr"/>
          <a:lstStyle/>
          <a:p>
            <a:pPr marL="0" indent="0" algn="ctr">
              <a:buNone/>
            </a:pPr>
            <a:r>
              <a:rPr lang="en-US" sz="1600" b="1" dirty="0">
                <a:solidFill>
                  <a:srgbClr val="E8B84B"/>
                </a:solidFill>
                <a:latin typeface="Cambria" pitchFamily="34" charset="0"/>
                <a:ea typeface="Cambria" pitchFamily="34" charset="-122"/>
                <a:cs typeface="Cambria" pitchFamily="34" charset="-120"/>
              </a:rPr>
              <a:t>03</a:t>
            </a:r>
            <a:endParaRPr lang="en-US" sz="1600" dirty="0"/>
          </a:p>
        </p:txBody>
      </p:sp>
      <p:sp>
        <p:nvSpPr>
          <p:cNvPr id="17" name="Text 15"/>
          <p:cNvSpPr/>
          <p:nvPr/>
        </p:nvSpPr>
        <p:spPr>
          <a:xfrm>
            <a:off x="1508760" y="3410712"/>
            <a:ext cx="3200400" cy="630936"/>
          </a:xfrm>
          <a:prstGeom prst="rect">
            <a:avLst/>
          </a:prstGeom>
          <a:noFill/>
          <a:ln/>
        </p:spPr>
        <p:txBody>
          <a:bodyPr wrap="square" rtlCol="0" anchor="ctr"/>
          <a:lstStyle/>
          <a:p>
            <a:pPr marL="0" indent="0">
              <a:buNone/>
            </a:pPr>
            <a:r>
              <a:rPr lang="en-US" sz="1350" b="1" dirty="0">
                <a:solidFill>
                  <a:srgbClr val="141B4D"/>
                </a:solidFill>
                <a:latin typeface="Calibri" pitchFamily="34" charset="0"/>
                <a:ea typeface="Calibri" pitchFamily="34" charset="-122"/>
                <a:cs typeface="Calibri" pitchFamily="34" charset="-120"/>
              </a:rPr>
              <a:t>Grow the East Region</a:t>
            </a:r>
            <a:endParaRPr lang="en-US" sz="1350" dirty="0"/>
          </a:p>
        </p:txBody>
      </p:sp>
      <p:sp>
        <p:nvSpPr>
          <p:cNvPr id="18" name="Text 16"/>
          <p:cNvSpPr/>
          <p:nvPr/>
        </p:nvSpPr>
        <p:spPr>
          <a:xfrm>
            <a:off x="4846320" y="3410712"/>
            <a:ext cx="6400800" cy="630936"/>
          </a:xfrm>
          <a:prstGeom prst="rect">
            <a:avLst/>
          </a:prstGeom>
          <a:noFill/>
          <a:ln/>
        </p:spPr>
        <p:txBody>
          <a:bodyPr wrap="square" rtlCol="0" anchor="ctr"/>
          <a:lstStyle/>
          <a:p>
            <a:pPr marL="0" indent="0">
              <a:lnSpc>
                <a:spcPts val="1500"/>
              </a:lnSpc>
              <a:buNone/>
            </a:pPr>
            <a:r>
              <a:rPr lang="en-US" sz="1200" dirty="0">
                <a:solidFill>
                  <a:srgbClr val="6B7280"/>
                </a:solidFill>
                <a:latin typeface="Calibri" pitchFamily="34" charset="0"/>
                <a:ea typeface="Calibri" pitchFamily="34" charset="-122"/>
                <a:cs typeface="Calibri" pitchFamily="34" charset="-120"/>
              </a:rPr>
              <a:t>Launch targeted marketing and engagement campaigns to build market penetration and revenue.</a:t>
            </a:r>
            <a:endParaRPr lang="en-US" sz="1200" dirty="0"/>
          </a:p>
        </p:txBody>
      </p:sp>
      <p:sp>
        <p:nvSpPr>
          <p:cNvPr id="19" name="Shape 17"/>
          <p:cNvSpPr/>
          <p:nvPr/>
        </p:nvSpPr>
        <p:spPr>
          <a:xfrm>
            <a:off x="548640" y="4251960"/>
            <a:ext cx="10881360" cy="777240"/>
          </a:xfrm>
          <a:prstGeom prst="roundRect">
            <a:avLst>
              <a:gd name="adj" fmla="val 8235"/>
            </a:avLst>
          </a:prstGeom>
          <a:solidFill>
            <a:srgbClr val="F5F7FC"/>
          </a:solidFill>
          <a:ln w="12700">
            <a:solidFill>
              <a:srgbClr val="E3E7F2"/>
            </a:solidFill>
            <a:prstDash val="solid"/>
          </a:ln>
        </p:spPr>
      </p:sp>
      <p:sp>
        <p:nvSpPr>
          <p:cNvPr id="20" name="Shape 18"/>
          <p:cNvSpPr/>
          <p:nvPr/>
        </p:nvSpPr>
        <p:spPr>
          <a:xfrm>
            <a:off x="713232" y="4352544"/>
            <a:ext cx="594360" cy="576072"/>
          </a:xfrm>
          <a:prstGeom prst="roundRect">
            <a:avLst>
              <a:gd name="adj" fmla="val 9524"/>
            </a:avLst>
          </a:prstGeom>
          <a:solidFill>
            <a:srgbClr val="1E2761"/>
          </a:solidFill>
          <a:ln/>
        </p:spPr>
      </p:sp>
      <p:sp>
        <p:nvSpPr>
          <p:cNvPr id="21" name="Text 19"/>
          <p:cNvSpPr/>
          <p:nvPr/>
        </p:nvSpPr>
        <p:spPr>
          <a:xfrm>
            <a:off x="713232" y="4352544"/>
            <a:ext cx="594360" cy="576072"/>
          </a:xfrm>
          <a:prstGeom prst="rect">
            <a:avLst/>
          </a:prstGeom>
          <a:noFill/>
          <a:ln/>
        </p:spPr>
        <p:txBody>
          <a:bodyPr wrap="square" rtlCol="0" anchor="ctr"/>
          <a:lstStyle/>
          <a:p>
            <a:pPr marL="0" indent="0" algn="ctr">
              <a:buNone/>
            </a:pPr>
            <a:r>
              <a:rPr lang="en-US" sz="1600" b="1" dirty="0">
                <a:solidFill>
                  <a:srgbClr val="E8B84B"/>
                </a:solidFill>
                <a:latin typeface="Cambria" pitchFamily="34" charset="0"/>
                <a:ea typeface="Cambria" pitchFamily="34" charset="-122"/>
                <a:cs typeface="Cambria" pitchFamily="34" charset="-120"/>
              </a:rPr>
              <a:t>04</a:t>
            </a:r>
            <a:endParaRPr lang="en-US" sz="1600" dirty="0"/>
          </a:p>
        </p:txBody>
      </p:sp>
      <p:sp>
        <p:nvSpPr>
          <p:cNvPr id="22" name="Text 20"/>
          <p:cNvSpPr/>
          <p:nvPr/>
        </p:nvSpPr>
        <p:spPr>
          <a:xfrm>
            <a:off x="1508760" y="4325112"/>
            <a:ext cx="3200400" cy="630936"/>
          </a:xfrm>
          <a:prstGeom prst="rect">
            <a:avLst/>
          </a:prstGeom>
          <a:noFill/>
          <a:ln/>
        </p:spPr>
        <p:txBody>
          <a:bodyPr wrap="square" rtlCol="0" anchor="ctr"/>
          <a:lstStyle/>
          <a:p>
            <a:pPr marL="0" indent="0">
              <a:buNone/>
            </a:pPr>
            <a:r>
              <a:rPr lang="en-US" sz="1350" b="1" dirty="0">
                <a:solidFill>
                  <a:srgbClr val="141B4D"/>
                </a:solidFill>
                <a:latin typeface="Calibri" pitchFamily="34" charset="0"/>
                <a:ea typeface="Calibri" pitchFamily="34" charset="-122"/>
                <a:cs typeface="Calibri" pitchFamily="34" charset="-120"/>
              </a:rPr>
              <a:t>Double Down on High-Profit Products</a:t>
            </a:r>
            <a:endParaRPr lang="en-US" sz="1350" dirty="0"/>
          </a:p>
        </p:txBody>
      </p:sp>
      <p:sp>
        <p:nvSpPr>
          <p:cNvPr id="23" name="Text 21"/>
          <p:cNvSpPr/>
          <p:nvPr/>
        </p:nvSpPr>
        <p:spPr>
          <a:xfrm>
            <a:off x="4846320" y="4325112"/>
            <a:ext cx="6400800" cy="630936"/>
          </a:xfrm>
          <a:prstGeom prst="rect">
            <a:avLst/>
          </a:prstGeom>
          <a:noFill/>
          <a:ln/>
        </p:spPr>
        <p:txBody>
          <a:bodyPr wrap="square" rtlCol="0" anchor="ctr"/>
          <a:lstStyle/>
          <a:p>
            <a:pPr marL="0" indent="0">
              <a:lnSpc>
                <a:spcPts val="1500"/>
              </a:lnSpc>
              <a:buNone/>
            </a:pPr>
            <a:r>
              <a:rPr lang="en-US" sz="1200" dirty="0">
                <a:solidFill>
                  <a:srgbClr val="6B7280"/>
                </a:solidFill>
                <a:latin typeface="Calibri" pitchFamily="34" charset="0"/>
                <a:ea typeface="Calibri" pitchFamily="34" charset="-122"/>
                <a:cs typeface="Calibri" pitchFamily="34" charset="-120"/>
              </a:rPr>
              <a:t>Keep Electronics as a strategic priority; investigate Furniture's pricing, costs, and inventory.</a:t>
            </a:r>
            <a:endParaRPr lang="en-US" sz="1200" dirty="0"/>
          </a:p>
        </p:txBody>
      </p:sp>
      <p:sp>
        <p:nvSpPr>
          <p:cNvPr id="24" name="Shape 22"/>
          <p:cNvSpPr/>
          <p:nvPr/>
        </p:nvSpPr>
        <p:spPr>
          <a:xfrm>
            <a:off x="548640" y="5166360"/>
            <a:ext cx="10881360" cy="777240"/>
          </a:xfrm>
          <a:prstGeom prst="roundRect">
            <a:avLst>
              <a:gd name="adj" fmla="val 8235"/>
            </a:avLst>
          </a:prstGeom>
          <a:solidFill>
            <a:srgbClr val="F5F7FC"/>
          </a:solidFill>
          <a:ln w="12700">
            <a:solidFill>
              <a:srgbClr val="E3E7F2"/>
            </a:solidFill>
            <a:prstDash val="solid"/>
          </a:ln>
        </p:spPr>
      </p:sp>
      <p:sp>
        <p:nvSpPr>
          <p:cNvPr id="25" name="Shape 23"/>
          <p:cNvSpPr/>
          <p:nvPr/>
        </p:nvSpPr>
        <p:spPr>
          <a:xfrm>
            <a:off x="713232" y="5266944"/>
            <a:ext cx="594360" cy="576072"/>
          </a:xfrm>
          <a:prstGeom prst="roundRect">
            <a:avLst>
              <a:gd name="adj" fmla="val 9524"/>
            </a:avLst>
          </a:prstGeom>
          <a:solidFill>
            <a:srgbClr val="1E2761"/>
          </a:solidFill>
          <a:ln/>
        </p:spPr>
      </p:sp>
      <p:sp>
        <p:nvSpPr>
          <p:cNvPr id="26" name="Text 24"/>
          <p:cNvSpPr/>
          <p:nvPr/>
        </p:nvSpPr>
        <p:spPr>
          <a:xfrm>
            <a:off x="713232" y="5266944"/>
            <a:ext cx="594360" cy="576072"/>
          </a:xfrm>
          <a:prstGeom prst="rect">
            <a:avLst/>
          </a:prstGeom>
          <a:noFill/>
          <a:ln/>
        </p:spPr>
        <p:txBody>
          <a:bodyPr wrap="square" rtlCol="0" anchor="ctr"/>
          <a:lstStyle/>
          <a:p>
            <a:pPr marL="0" indent="0" algn="ctr">
              <a:buNone/>
            </a:pPr>
            <a:r>
              <a:rPr lang="en-US" sz="1600" b="1" dirty="0">
                <a:solidFill>
                  <a:srgbClr val="E8B84B"/>
                </a:solidFill>
                <a:latin typeface="Cambria" pitchFamily="34" charset="0"/>
                <a:ea typeface="Cambria" pitchFamily="34" charset="-122"/>
                <a:cs typeface="Cambria" pitchFamily="34" charset="-120"/>
              </a:rPr>
              <a:t>05</a:t>
            </a:r>
            <a:endParaRPr lang="en-US" sz="1600" dirty="0"/>
          </a:p>
        </p:txBody>
      </p:sp>
      <p:sp>
        <p:nvSpPr>
          <p:cNvPr id="27" name="Text 25"/>
          <p:cNvSpPr/>
          <p:nvPr/>
        </p:nvSpPr>
        <p:spPr>
          <a:xfrm>
            <a:off x="1508760" y="5239512"/>
            <a:ext cx="3200400" cy="630936"/>
          </a:xfrm>
          <a:prstGeom prst="rect">
            <a:avLst/>
          </a:prstGeom>
          <a:noFill/>
          <a:ln/>
        </p:spPr>
        <p:txBody>
          <a:bodyPr wrap="square" rtlCol="0" anchor="ctr"/>
          <a:lstStyle/>
          <a:p>
            <a:pPr marL="0" indent="0">
              <a:buNone/>
            </a:pPr>
            <a:r>
              <a:rPr lang="en-US" sz="1350" b="1" dirty="0">
                <a:solidFill>
                  <a:srgbClr val="141B4D"/>
                </a:solidFill>
                <a:latin typeface="Calibri" pitchFamily="34" charset="0"/>
                <a:ea typeface="Calibri" pitchFamily="34" charset="-122"/>
                <a:cs typeface="Calibri" pitchFamily="34" charset="-120"/>
              </a:rPr>
              <a:t>Monitor Satisfaction Continuously</a:t>
            </a:r>
            <a:endParaRPr lang="en-US" sz="1350" dirty="0"/>
          </a:p>
        </p:txBody>
      </p:sp>
      <p:sp>
        <p:nvSpPr>
          <p:cNvPr id="28" name="Text 26"/>
          <p:cNvSpPr/>
          <p:nvPr/>
        </p:nvSpPr>
        <p:spPr>
          <a:xfrm>
            <a:off x="4846320" y="5239512"/>
            <a:ext cx="6400800" cy="630936"/>
          </a:xfrm>
          <a:prstGeom prst="rect">
            <a:avLst/>
          </a:prstGeom>
          <a:noFill/>
          <a:ln/>
        </p:spPr>
        <p:txBody>
          <a:bodyPr wrap="square" rtlCol="0" anchor="ctr"/>
          <a:lstStyle/>
          <a:p>
            <a:pPr marL="0" indent="0">
              <a:lnSpc>
                <a:spcPts val="1500"/>
              </a:lnSpc>
              <a:buNone/>
            </a:pPr>
            <a:r>
              <a:rPr lang="en-US" sz="1200" dirty="0">
                <a:solidFill>
                  <a:srgbClr val="6B7280"/>
                </a:solidFill>
                <a:latin typeface="Calibri" pitchFamily="34" charset="0"/>
                <a:ea typeface="Calibri" pitchFamily="34" charset="-122"/>
                <a:cs typeface="Calibri" pitchFamily="34" charset="-120"/>
              </a:rPr>
              <a:t>Track feedback regularly and give extra support to lower-scoring regions before issues compound.</a:t>
            </a:r>
            <a:endParaRPr lang="en-US" sz="1200" dirty="0"/>
          </a:p>
        </p:txBody>
      </p:sp>
      <p:sp>
        <p:nvSpPr>
          <p:cNvPr id="29" name="Text 27"/>
          <p:cNvSpPr/>
          <p:nvPr/>
        </p:nvSpPr>
        <p:spPr>
          <a:xfrm>
            <a:off x="457200" y="6537960"/>
            <a:ext cx="7315200" cy="274320"/>
          </a:xfrm>
          <a:prstGeom prst="rect">
            <a:avLst/>
          </a:prstGeom>
          <a:noFill/>
          <a:ln/>
        </p:spPr>
        <p:txBody>
          <a:bodyPr wrap="square" rtlCol="0" anchor="ctr"/>
          <a:lstStyle/>
          <a:p>
            <a:pPr marL="0" indent="0" algn="l">
              <a:buNone/>
            </a:pPr>
            <a:r>
              <a:rPr lang="en-US" sz="1000" dirty="0">
                <a:solidFill>
                  <a:srgbClr val="9AA3B5"/>
                </a:solidFill>
                <a:latin typeface="Calibri" pitchFamily="34" charset="0"/>
                <a:ea typeface="Calibri" pitchFamily="34" charset="-122"/>
                <a:cs typeface="Calibri" pitchFamily="34" charset="-120"/>
              </a:rPr>
              <a:t>Section 5 · Recommendations</a:t>
            </a:r>
            <a:endParaRPr lang="en-US" sz="1000" dirty="0"/>
          </a:p>
        </p:txBody>
      </p:sp>
      <p:sp>
        <p:nvSpPr>
          <p:cNvPr id="30" name="Text 28"/>
          <p:cNvSpPr/>
          <p:nvPr/>
        </p:nvSpPr>
        <p:spPr>
          <a:xfrm>
            <a:off x="7589520" y="6537960"/>
            <a:ext cx="4114800" cy="274320"/>
          </a:xfrm>
          <a:prstGeom prst="rect">
            <a:avLst/>
          </a:prstGeom>
          <a:noFill/>
          <a:ln/>
        </p:spPr>
        <p:txBody>
          <a:bodyPr wrap="square" rtlCol="0" anchor="ctr"/>
          <a:lstStyle/>
          <a:p>
            <a:pPr marL="0" indent="0" algn="r">
              <a:buNone/>
            </a:pPr>
            <a:r>
              <a:rPr lang="en-US" sz="1000" dirty="0">
                <a:solidFill>
                  <a:srgbClr val="9AA3B5"/>
                </a:solidFill>
                <a:latin typeface="Calibri" pitchFamily="34" charset="0"/>
                <a:ea typeface="Calibri" pitchFamily="34" charset="-122"/>
                <a:cs typeface="Calibri" pitchFamily="34" charset="-120"/>
              </a:rPr>
              <a:t>NeoMart Retail Performance Analysis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1645920" y="-1828800"/>
            <a:ext cx="5029200" cy="5029200"/>
          </a:xfrm>
          <a:prstGeom prst="ellipse">
            <a:avLst/>
          </a:prstGeom>
          <a:solidFill>
            <a:srgbClr val="1E2761">
              <a:alpha val="65000"/>
            </a:srgbClr>
          </a:solidFill>
          <a:ln/>
        </p:spPr>
      </p:sp>
      <p:sp>
        <p:nvSpPr>
          <p:cNvPr id="3" name="Shape 1"/>
          <p:cNvSpPr/>
          <p:nvPr/>
        </p:nvSpPr>
        <p:spPr>
          <a:xfrm>
            <a:off x="9875520" y="4206240"/>
            <a:ext cx="4114800" cy="4114800"/>
          </a:xfrm>
          <a:prstGeom prst="ellipse">
            <a:avLst/>
          </a:prstGeom>
          <a:solidFill>
            <a:srgbClr val="1E2761">
              <a:alpha val="65000"/>
            </a:srgbClr>
          </a:solidFill>
          <a:ln/>
        </p:spPr>
      </p:sp>
      <p:sp>
        <p:nvSpPr>
          <p:cNvPr id="4" name="Text 2"/>
          <p:cNvSpPr/>
          <p:nvPr/>
        </p:nvSpPr>
        <p:spPr>
          <a:xfrm>
            <a:off x="822960" y="2286000"/>
            <a:ext cx="9144000" cy="82296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The Path Forward</a:t>
            </a:r>
            <a:endParaRPr lang="en-US" sz="3800" dirty="0"/>
          </a:p>
        </p:txBody>
      </p:sp>
      <p:sp>
        <p:nvSpPr>
          <p:cNvPr id="5" name="Text 3"/>
          <p:cNvSpPr/>
          <p:nvPr/>
        </p:nvSpPr>
        <p:spPr>
          <a:xfrm>
            <a:off x="822960" y="3108960"/>
            <a:ext cx="8046720" cy="1097280"/>
          </a:xfrm>
          <a:prstGeom prst="rect">
            <a:avLst/>
          </a:prstGeom>
          <a:noFill/>
          <a:ln/>
        </p:spPr>
        <p:txBody>
          <a:bodyPr wrap="square" rtlCol="0" anchor="ctr"/>
          <a:lstStyle/>
          <a:p>
            <a:pPr marL="0" indent="0">
              <a:lnSpc>
                <a:spcPts val="2200"/>
              </a:lnSpc>
              <a:buNone/>
            </a:pPr>
            <a:r>
              <a:rPr lang="en-US" sz="1600" dirty="0">
                <a:solidFill>
                  <a:srgbClr val="CADCFC"/>
                </a:solidFill>
                <a:latin typeface="Calibri" pitchFamily="34" charset="0"/>
                <a:ea typeface="Calibri" pitchFamily="34" charset="-122"/>
                <a:cs typeface="Calibri" pitchFamily="34" charset="-120"/>
              </a:rPr>
              <a:t>Balanced discounting, faster South region delivery, and focused East region growth will help NeoMart turn a strong sales year into stronger, more consistent profitability.</a:t>
            </a:r>
            <a:endParaRPr lang="en-US" sz="1600" dirty="0"/>
          </a:p>
        </p:txBody>
      </p:sp>
      <p:sp>
        <p:nvSpPr>
          <p:cNvPr id="6" name="Shape 4"/>
          <p:cNvSpPr/>
          <p:nvPr/>
        </p:nvSpPr>
        <p:spPr>
          <a:xfrm>
            <a:off x="822960" y="4434840"/>
            <a:ext cx="1005840" cy="0"/>
          </a:xfrm>
          <a:prstGeom prst="line">
            <a:avLst/>
          </a:prstGeom>
          <a:noFill/>
          <a:ln w="38100">
            <a:solidFill>
              <a:srgbClr val="E8B84B"/>
            </a:solidFill>
            <a:prstDash val="solid"/>
          </a:ln>
        </p:spPr>
      </p:sp>
      <p:sp>
        <p:nvSpPr>
          <p:cNvPr id="7" name="Text 5"/>
          <p:cNvSpPr/>
          <p:nvPr/>
        </p:nvSpPr>
        <p:spPr>
          <a:xfrm>
            <a:off x="822960" y="4617720"/>
            <a:ext cx="5486400" cy="457200"/>
          </a:xfrm>
          <a:prstGeom prst="rect">
            <a:avLst/>
          </a:prstGeom>
          <a:noFill/>
          <a:ln/>
        </p:spPr>
        <p:txBody>
          <a:bodyPr wrap="square" rtlCol="0" anchor="ctr"/>
          <a:lstStyle/>
          <a:p>
            <a:pPr marL="0" indent="0">
              <a:buNone/>
            </a:pPr>
            <a:r>
              <a:rPr lang="en-US" sz="1500" i="1" dirty="0">
                <a:solidFill>
                  <a:srgbClr val="9FB0E0"/>
                </a:solidFill>
                <a:latin typeface="Calibri" pitchFamily="34" charset="0"/>
                <a:ea typeface="Calibri" pitchFamily="34" charset="-122"/>
                <a:cs typeface="Calibri" pitchFamily="34" charset="-120"/>
              </a:rPr>
              <a:t>Thank you</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1113</Words>
  <Application>Microsoft Office PowerPoint</Application>
  <PresentationFormat>Widescreen</PresentationFormat>
  <Paragraphs>174</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Prudence Onwachie</cp:lastModifiedBy>
  <cp:revision>1</cp:revision>
  <dcterms:created xsi:type="dcterms:W3CDTF">2026-07-09T19:55:41Z</dcterms:created>
  <dcterms:modified xsi:type="dcterms:W3CDTF">2026-07-10T19:24:37Z</dcterms:modified>
</cp:coreProperties>
</file>